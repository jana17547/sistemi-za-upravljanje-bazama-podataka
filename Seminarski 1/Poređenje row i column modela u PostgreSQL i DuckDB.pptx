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0"/>
  </p:notesMasterIdLst>
  <p:sldIdLst>
    <p:sldId id="256" r:id="rId5"/>
    <p:sldId id="284" r:id="rId6"/>
    <p:sldId id="277" r:id="rId7"/>
    <p:sldId id="292" r:id="rId8"/>
    <p:sldId id="282" r:id="rId9"/>
    <p:sldId id="293" r:id="rId10"/>
    <p:sldId id="290" r:id="rId11"/>
    <p:sldId id="291" r:id="rId12"/>
    <p:sldId id="262" r:id="rId13"/>
    <p:sldId id="294" r:id="rId14"/>
    <p:sldId id="296" r:id="rId15"/>
    <p:sldId id="297" r:id="rId16"/>
    <p:sldId id="298" r:id="rId17"/>
    <p:sldId id="286" r:id="rId18"/>
    <p:sldId id="289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5" name="Author" initials="A" lastIdx="0" clrIdx="4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40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54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8/10/relationships/authors" Target="authors.xml"/><Relationship Id="rId3" Type="http://schemas.openxmlformats.org/officeDocument/2006/relationships/customXml" Target="../customXml/item3.xml"/><Relationship Id="rId21" Type="http://schemas.openxmlformats.org/officeDocument/2006/relationships/commentAuthors" Target="comment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PostgreSQL</c:v>
                </c:pt>
              </c:strCache>
            </c:strRef>
          </c:tx>
          <c:spPr>
            <a:solidFill>
              <a:schemeClr val="accent6">
                <a:lumMod val="60000"/>
                <a:lumOff val="40000"/>
              </a:schemeClr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Čitanje
1 reda</c:v>
                </c:pt>
                <c:pt idx="1">
                  <c:v>Filtriranje</c:v>
                </c:pt>
                <c:pt idx="2">
                  <c:v>SUM()</c:v>
                </c:pt>
                <c:pt idx="3">
                  <c:v>GROUP BY</c:v>
                </c:pt>
                <c:pt idx="4">
                  <c:v>UPDATE</c:v>
                </c:pt>
                <c:pt idx="5">
                  <c:v>Složeni
OLAP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6.8000000000000005E-2</c:v>
                </c:pt>
                <c:pt idx="1">
                  <c:v>9.9000000000000005E-2</c:v>
                </c:pt>
                <c:pt idx="2">
                  <c:v>14.09</c:v>
                </c:pt>
                <c:pt idx="3">
                  <c:v>45.631</c:v>
                </c:pt>
                <c:pt idx="4">
                  <c:v>0.14499999999999999</c:v>
                </c:pt>
                <c:pt idx="5">
                  <c:v>87.573999999999998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334-471D-801F-5C7962111DF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DuckDB</c:v>
                </c:pt>
              </c:strCache>
            </c:strRef>
          </c:tx>
          <c:spPr>
            <a:solidFill>
              <a:srgbClr val="E6A800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Čitanje
1 reda</c:v>
                </c:pt>
                <c:pt idx="1">
                  <c:v>Filtriranje</c:v>
                </c:pt>
                <c:pt idx="2">
                  <c:v>SUM()</c:v>
                </c:pt>
                <c:pt idx="3">
                  <c:v>GROUP BY</c:v>
                </c:pt>
                <c:pt idx="4">
                  <c:v>UPDATE</c:v>
                </c:pt>
                <c:pt idx="5">
                  <c:v>Složeni
OLAP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</c:v>
                </c:pt>
                <c:pt idx="1">
                  <c:v>3.1</c:v>
                </c:pt>
                <c:pt idx="2">
                  <c:v>2.7</c:v>
                </c:pt>
                <c:pt idx="3">
                  <c:v>9.6999999999999993</c:v>
                </c:pt>
                <c:pt idx="4">
                  <c:v>1.3</c:v>
                </c:pt>
                <c:pt idx="5">
                  <c:v>20.399999999999999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334-471D-801F-5C7962111DF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37939C-241D-4FDC-8DE8-4EE3F462EE22}" type="datetimeFigureOut">
              <a:rPr lang="en-US" smtClean="0"/>
              <a:t>5/11/2026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BAF473-2665-42A7-89E3-C7BA7EB58D1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35489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A3215B1E-B289-4C56-BCC0-2AB8CF93E2A1}"/>
              </a:ext>
            </a:extLst>
          </p:cNvPr>
          <p:cNvSpPr/>
          <p:nvPr userDrawn="1"/>
        </p:nvSpPr>
        <p:spPr>
          <a:xfrm>
            <a:off x="8610600" y="0"/>
            <a:ext cx="35814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2465970"/>
            <a:ext cx="5739882" cy="2387600"/>
          </a:xfrm>
        </p:spPr>
        <p:txBody>
          <a:bodyPr anchor="b">
            <a:normAutofit/>
          </a:bodyPr>
          <a:lstStyle>
            <a:lvl1pPr algn="l">
              <a:defRPr sz="54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D32955-BB06-40DE-A14A-2170FD41AD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0" y="5159827"/>
            <a:ext cx="5739882" cy="783773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8395834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80" y="822325"/>
            <a:ext cx="5684520" cy="1325563"/>
          </a:xfrm>
        </p:spPr>
        <p:txBody>
          <a:bodyPr anchor="b"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8F5A6A-E29E-401A-801A-8FD9CAABA7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69280" y="2595562"/>
            <a:ext cx="5684520" cy="3181034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9197FF6-6321-41EE-A0C4-DEC0761A3C01}"/>
              </a:ext>
            </a:extLst>
          </p:cNvPr>
          <p:cNvSpPr/>
          <p:nvPr userDrawn="1"/>
        </p:nvSpPr>
        <p:spPr>
          <a:xfrm>
            <a:off x="0" y="0"/>
            <a:ext cx="4175760" cy="384048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45EFDD-D97D-44D9-8A6D-0FACEE0964B3}"/>
              </a:ext>
            </a:extLst>
          </p:cNvPr>
          <p:cNvSpPr/>
          <p:nvPr userDrawn="1"/>
        </p:nvSpPr>
        <p:spPr>
          <a:xfrm flipV="1">
            <a:off x="0" y="3840480"/>
            <a:ext cx="4175760" cy="20878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54E59D1-0F68-4FA3-944D-63FCD442DA66}"/>
              </a:ext>
            </a:extLst>
          </p:cNvPr>
          <p:cNvSpPr/>
          <p:nvPr userDrawn="1"/>
        </p:nvSpPr>
        <p:spPr>
          <a:xfrm flipV="1">
            <a:off x="0" y="5928360"/>
            <a:ext cx="4175760" cy="929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Date Placeholder 4">
            <a:extLst>
              <a:ext uri="{FF2B5EF4-FFF2-40B4-BE49-F238E27FC236}">
                <a16:creationId xmlns:a16="http://schemas.microsoft.com/office/drawing/2014/main" id="{2FF674D8-A0B1-4D60-AB18-A733984F704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sz="900"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7/29/20XX</a:t>
            </a:r>
          </a:p>
        </p:txBody>
      </p:sp>
      <p:sp>
        <p:nvSpPr>
          <p:cNvPr id="22" name="Footer Placeholder 5">
            <a:extLst>
              <a:ext uri="{FF2B5EF4-FFF2-40B4-BE49-F238E27FC236}">
                <a16:creationId xmlns:a16="http://schemas.microsoft.com/office/drawing/2014/main" id="{7E0AFFFB-7406-40B3-B2D5-18288BEA52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 sz="900">
                <a:solidFill>
                  <a:schemeClr val="accent4">
                    <a:lumMod val="40000"/>
                    <a:lumOff val="60000"/>
                  </a:schemeClr>
                </a:solidFill>
              </a:defRPr>
            </a:lvl1pPr>
          </a:lstStyle>
          <a:p>
            <a:r>
              <a:rPr lang="en-US" dirty="0"/>
              <a:t>Employee orientation</a:t>
            </a:r>
          </a:p>
        </p:txBody>
      </p:sp>
      <p:sp>
        <p:nvSpPr>
          <p:cNvPr id="23" name="Slide Number Placeholder 6">
            <a:extLst>
              <a:ext uri="{FF2B5EF4-FFF2-40B4-BE49-F238E27FC236}">
                <a16:creationId xmlns:a16="http://schemas.microsoft.com/office/drawing/2014/main" id="{0D2AF818-9E4C-485A-8EA3-3BD5917D52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900">
                <a:solidFill>
                  <a:schemeClr val="accent4">
                    <a:lumMod val="40000"/>
                    <a:lumOff val="60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45874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22325"/>
            <a:ext cx="5684520" cy="1325563"/>
          </a:xfrm>
        </p:spPr>
        <p:txBody>
          <a:bodyPr anchor="b"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8F5A6A-E29E-401A-801A-8FD9CAABA7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595562"/>
            <a:ext cx="5684520" cy="441552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lang="en-US" sz="1800" b="1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9197FF6-6321-41EE-A0C4-DEC0761A3C01}"/>
              </a:ext>
            </a:extLst>
          </p:cNvPr>
          <p:cNvSpPr/>
          <p:nvPr userDrawn="1"/>
        </p:nvSpPr>
        <p:spPr>
          <a:xfrm>
            <a:off x="8016240" y="0"/>
            <a:ext cx="2401389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45EFDD-D97D-44D9-8A6D-0FACEE0964B3}"/>
              </a:ext>
            </a:extLst>
          </p:cNvPr>
          <p:cNvSpPr/>
          <p:nvPr userDrawn="1"/>
        </p:nvSpPr>
        <p:spPr>
          <a:xfrm flipV="1">
            <a:off x="10417629" y="0"/>
            <a:ext cx="177437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54E59D1-0F68-4FA3-944D-63FCD442DA66}"/>
              </a:ext>
            </a:extLst>
          </p:cNvPr>
          <p:cNvSpPr/>
          <p:nvPr userDrawn="1"/>
        </p:nvSpPr>
        <p:spPr>
          <a:xfrm flipV="1">
            <a:off x="11800114" y="0"/>
            <a:ext cx="391886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20C3808-5997-40A2-83EF-E2136C52EFE1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838200" y="4529818"/>
            <a:ext cx="5684520" cy="441552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lang="en-US" sz="1800" b="1" kern="1200" dirty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EAD9A34D-2599-4944-8F4B-6953690367EE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838200" y="3040514"/>
            <a:ext cx="5684520" cy="1106942"/>
          </a:xfrm>
        </p:spPr>
        <p:txBody>
          <a:bodyPr>
            <a:normAutofit/>
          </a:bodyPr>
          <a:lstStyle>
            <a:lvl1pPr marL="2857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4D123A04-698E-4E6B-BB2C-C4FCA2CFBB9A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838200" y="4993888"/>
            <a:ext cx="5684520" cy="1106942"/>
          </a:xfrm>
        </p:spPr>
        <p:txBody>
          <a:bodyPr>
            <a:normAutofit/>
          </a:bodyPr>
          <a:lstStyle>
            <a:lvl1pPr marL="2857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Date Placeholder 4">
            <a:extLst>
              <a:ext uri="{FF2B5EF4-FFF2-40B4-BE49-F238E27FC236}">
                <a16:creationId xmlns:a16="http://schemas.microsoft.com/office/drawing/2014/main" id="{8BC6F0B0-7E88-4658-BED0-B126DDE797A0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sz="900">
                <a:solidFill>
                  <a:schemeClr val="accent4">
                    <a:lumMod val="40000"/>
                    <a:lumOff val="60000"/>
                  </a:schemeClr>
                </a:solidFill>
              </a:defRPr>
            </a:lvl1pPr>
          </a:lstStyle>
          <a:p>
            <a:r>
              <a:rPr lang="en-US" dirty="0"/>
              <a:t>7/29/20XX</a:t>
            </a:r>
          </a:p>
        </p:txBody>
      </p:sp>
      <p:sp>
        <p:nvSpPr>
          <p:cNvPr id="15" name="Footer Placeholder 5">
            <a:extLst>
              <a:ext uri="{FF2B5EF4-FFF2-40B4-BE49-F238E27FC236}">
                <a16:creationId xmlns:a16="http://schemas.microsoft.com/office/drawing/2014/main" id="{1B454B68-B7BD-4197-BF00-63964D76348E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 sz="900">
                <a:solidFill>
                  <a:schemeClr val="accent4">
                    <a:lumMod val="40000"/>
                    <a:lumOff val="60000"/>
                  </a:schemeClr>
                </a:solidFill>
              </a:defRPr>
            </a:lvl1pPr>
          </a:lstStyle>
          <a:p>
            <a:r>
              <a:rPr lang="en-US" dirty="0"/>
              <a:t>Employee orientation</a:t>
            </a:r>
          </a:p>
        </p:txBody>
      </p:sp>
      <p:sp>
        <p:nvSpPr>
          <p:cNvPr id="16" name="Slide Number Placeholder 6">
            <a:extLst>
              <a:ext uri="{FF2B5EF4-FFF2-40B4-BE49-F238E27FC236}">
                <a16:creationId xmlns:a16="http://schemas.microsoft.com/office/drawing/2014/main" id="{BAA42605-D696-484D-B611-62CB3140EAC3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56824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four content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C2A3DF3F-0A0C-4018-A9D5-6DE43170F3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4742" y="822325"/>
            <a:ext cx="9329058" cy="1325563"/>
          </a:xfrm>
        </p:spPr>
        <p:txBody>
          <a:bodyPr anchor="b"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B2E9ED8E-C27B-434B-BABA-E66DF12C50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24742" y="2595562"/>
            <a:ext cx="4334689" cy="4742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accent2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A9EBAE4-D52F-453F-8270-8B6E097489BF}"/>
              </a:ext>
            </a:extLst>
          </p:cNvPr>
          <p:cNvSpPr/>
          <p:nvPr userDrawn="1"/>
        </p:nvSpPr>
        <p:spPr>
          <a:xfrm>
            <a:off x="0" y="-1"/>
            <a:ext cx="674914" cy="685799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9FC540D-D53A-486F-96EA-3488254DA8F1}"/>
              </a:ext>
            </a:extLst>
          </p:cNvPr>
          <p:cNvSpPr/>
          <p:nvPr userDrawn="1"/>
        </p:nvSpPr>
        <p:spPr>
          <a:xfrm flipV="1">
            <a:off x="674914" y="0"/>
            <a:ext cx="67491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AA5699F8-E412-4D90-AD9E-5A933F03D673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7019111" y="2595562"/>
            <a:ext cx="4334689" cy="4742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accent2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3C6CD4EE-A2DF-4227-8E8E-061E1811B311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2024742" y="4446132"/>
            <a:ext cx="4334689" cy="4742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accent2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2BD7E863-25A7-4713-A3A0-9A5F432FE00D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7019111" y="4446132"/>
            <a:ext cx="4334689" cy="4742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accent2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13EEC52D-9939-4E0F-B26E-6287735877FF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2024740" y="3069773"/>
            <a:ext cx="4334689" cy="1219201"/>
          </a:xfrm>
        </p:spPr>
        <p:txBody>
          <a:bodyPr>
            <a:normAutofit/>
          </a:bodyPr>
          <a:lstStyle>
            <a:lvl1pPr marL="2857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3F6A9263-89CC-446B-AA55-FA0F0180A706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7019109" y="3069773"/>
            <a:ext cx="4334689" cy="1219201"/>
          </a:xfrm>
        </p:spPr>
        <p:txBody>
          <a:bodyPr>
            <a:normAutofit/>
          </a:bodyPr>
          <a:lstStyle>
            <a:lvl1pPr marL="2857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73A562DC-F1FD-4766-B507-CC08FBA1EE68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2024740" y="4920343"/>
            <a:ext cx="4334689" cy="1219201"/>
          </a:xfrm>
        </p:spPr>
        <p:txBody>
          <a:bodyPr>
            <a:normAutofit/>
          </a:bodyPr>
          <a:lstStyle>
            <a:lvl1pPr marL="2857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B4A99B91-CC4B-4964-B372-94ED4BB9A772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7019109" y="4920343"/>
            <a:ext cx="4334689" cy="1219201"/>
          </a:xfrm>
        </p:spPr>
        <p:txBody>
          <a:bodyPr>
            <a:normAutofit/>
          </a:bodyPr>
          <a:lstStyle>
            <a:lvl1pPr marL="2857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Date Placeholder 4">
            <a:extLst>
              <a:ext uri="{FF2B5EF4-FFF2-40B4-BE49-F238E27FC236}">
                <a16:creationId xmlns:a16="http://schemas.microsoft.com/office/drawing/2014/main" id="{5413A312-123E-4C7A-864E-C120568D6037}"/>
              </a:ext>
            </a:extLst>
          </p:cNvPr>
          <p:cNvSpPr>
            <a:spLocks noGrp="1"/>
          </p:cNvSpPr>
          <p:nvPr>
            <p:ph type="dt" sz="half" idx="17"/>
          </p:nvPr>
        </p:nvSpPr>
        <p:spPr>
          <a:xfrm>
            <a:off x="2024740" y="6356350"/>
            <a:ext cx="1556659" cy="365125"/>
          </a:xfrm>
        </p:spPr>
        <p:txBody>
          <a:bodyPr/>
          <a:lstStyle>
            <a:lvl1pPr>
              <a:defRPr sz="900">
                <a:solidFill>
                  <a:schemeClr val="accent4">
                    <a:lumMod val="40000"/>
                    <a:lumOff val="60000"/>
                  </a:schemeClr>
                </a:solidFill>
              </a:defRPr>
            </a:lvl1pPr>
          </a:lstStyle>
          <a:p>
            <a:r>
              <a:rPr lang="en-US" dirty="0"/>
              <a:t>7/29/20XX</a:t>
            </a:r>
          </a:p>
        </p:txBody>
      </p:sp>
      <p:sp>
        <p:nvSpPr>
          <p:cNvPr id="22" name="Footer Placeholder 5">
            <a:extLst>
              <a:ext uri="{FF2B5EF4-FFF2-40B4-BE49-F238E27FC236}">
                <a16:creationId xmlns:a16="http://schemas.microsoft.com/office/drawing/2014/main" id="{F3306EE3-B07E-48BA-A4EE-EAFE9A458C38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4038600" y="6356350"/>
            <a:ext cx="5268686" cy="365125"/>
          </a:xfrm>
        </p:spPr>
        <p:txBody>
          <a:bodyPr/>
          <a:lstStyle>
            <a:lvl1pPr>
              <a:defRPr sz="900">
                <a:solidFill>
                  <a:schemeClr val="accent4">
                    <a:lumMod val="40000"/>
                    <a:lumOff val="60000"/>
                  </a:schemeClr>
                </a:solidFill>
              </a:defRPr>
            </a:lvl1pPr>
          </a:lstStyle>
          <a:p>
            <a:r>
              <a:rPr lang="en-US" dirty="0"/>
              <a:t>Employee orientation</a:t>
            </a:r>
          </a:p>
        </p:txBody>
      </p:sp>
      <p:sp>
        <p:nvSpPr>
          <p:cNvPr id="23" name="Slide Number Placeholder 6">
            <a:extLst>
              <a:ext uri="{FF2B5EF4-FFF2-40B4-BE49-F238E27FC236}">
                <a16:creationId xmlns:a16="http://schemas.microsoft.com/office/drawing/2014/main" id="{6A049DF0-5C6A-4542-841D-C03F62304820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>
          <a:xfrm>
            <a:off x="9764486" y="6356350"/>
            <a:ext cx="1589314" cy="365125"/>
          </a:xfrm>
        </p:spPr>
        <p:txBody>
          <a:bodyPr/>
          <a:lstStyle>
            <a:lvl1pPr>
              <a:defRPr sz="900">
                <a:solidFill>
                  <a:schemeClr val="accent4">
                    <a:lumMod val="40000"/>
                    <a:lumOff val="60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21530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left content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79BF9015-BE24-42C7-B20B-596FE57DE33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73480" y="3864426"/>
            <a:ext cx="5684520" cy="737734"/>
          </a:xfrm>
        </p:spPr>
        <p:txBody>
          <a:bodyPr anchor="b"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37368391-D103-4780-88AC-9746C03596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3480" y="4879291"/>
            <a:ext cx="5684520" cy="1325563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A0B4B24-EFFA-49CE-88D9-B8E2ECE17208}"/>
              </a:ext>
            </a:extLst>
          </p:cNvPr>
          <p:cNvSpPr/>
          <p:nvPr userDrawn="1"/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94AD39F-C2DD-4F6A-8AB9-EA5E0024EB1C}"/>
              </a:ext>
            </a:extLst>
          </p:cNvPr>
          <p:cNvSpPr/>
          <p:nvPr userDrawn="1"/>
        </p:nvSpPr>
        <p:spPr>
          <a:xfrm flipV="1">
            <a:off x="8016240" y="0"/>
            <a:ext cx="417576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Date Placeholder 4">
            <a:extLst>
              <a:ext uri="{FF2B5EF4-FFF2-40B4-BE49-F238E27FC236}">
                <a16:creationId xmlns:a16="http://schemas.microsoft.com/office/drawing/2014/main" id="{38ABA718-1AEF-413D-964E-FA9CA8EDD8A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sz="900">
                <a:solidFill>
                  <a:schemeClr val="accent4">
                    <a:lumMod val="40000"/>
                    <a:lumOff val="60000"/>
                  </a:schemeClr>
                </a:solidFill>
              </a:defRPr>
            </a:lvl1pPr>
          </a:lstStyle>
          <a:p>
            <a:r>
              <a:rPr lang="en-US" dirty="0"/>
              <a:t>7/29/20XX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EE83AD3-B30F-42CE-99A0-D50CDB9C951F}"/>
              </a:ext>
            </a:extLst>
          </p:cNvPr>
          <p:cNvSpPr/>
          <p:nvPr userDrawn="1"/>
        </p:nvSpPr>
        <p:spPr>
          <a:xfrm>
            <a:off x="8011886" y="3429000"/>
            <a:ext cx="4180114" cy="3429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Footer Placeholder 5">
            <a:extLst>
              <a:ext uri="{FF2B5EF4-FFF2-40B4-BE49-F238E27FC236}">
                <a16:creationId xmlns:a16="http://schemas.microsoft.com/office/drawing/2014/main" id="{BCCB3A69-6840-43C8-94EB-C3EF41DBCE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 sz="900">
                <a:solidFill>
                  <a:schemeClr val="accent4">
                    <a:lumMod val="40000"/>
                    <a:lumOff val="60000"/>
                  </a:schemeClr>
                </a:solidFill>
              </a:defRPr>
            </a:lvl1pPr>
          </a:lstStyle>
          <a:p>
            <a:r>
              <a:rPr lang="en-US" dirty="0"/>
              <a:t>Employee orientation</a:t>
            </a:r>
          </a:p>
        </p:txBody>
      </p:sp>
      <p:sp>
        <p:nvSpPr>
          <p:cNvPr id="16" name="Slide Number Placeholder 6">
            <a:extLst>
              <a:ext uri="{FF2B5EF4-FFF2-40B4-BE49-F238E27FC236}">
                <a16:creationId xmlns:a16="http://schemas.microsoft.com/office/drawing/2014/main" id="{B374594B-C272-477C-B1DB-A1E214CEDA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900"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46433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enter text with top border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3740" y="1957701"/>
            <a:ext cx="5684520" cy="1305562"/>
          </a:xfrm>
        </p:spPr>
        <p:txBody>
          <a:bodyPr anchor="b"/>
          <a:lstStyle>
            <a:lvl1pPr algn="ctr">
              <a:defRPr b="1">
                <a:solidFill>
                  <a:schemeClr val="accent4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8F5A6A-E29E-401A-801A-8FD9CAABA7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53740" y="3429000"/>
            <a:ext cx="5684520" cy="2347596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600">
                <a:solidFill>
                  <a:schemeClr val="accent4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B217CA4-9423-45D5-AD1D-2415B600F1DD}"/>
              </a:ext>
            </a:extLst>
          </p:cNvPr>
          <p:cNvSpPr/>
          <p:nvPr userDrawn="1"/>
        </p:nvSpPr>
        <p:spPr>
          <a:xfrm>
            <a:off x="0" y="0"/>
            <a:ext cx="12192000" cy="108140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525B7F-8292-4AE6-B9B3-F6C0621F11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7/29/20XX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E86D52-9DFB-4D69-BF39-2C163B3946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Employee orientation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B91A39-D816-4317-AA23-55510F9D35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16077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enter text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3740" y="1957701"/>
            <a:ext cx="5684520" cy="1305562"/>
          </a:xfrm>
        </p:spPr>
        <p:txBody>
          <a:bodyPr anchor="b"/>
          <a:lstStyle>
            <a:lvl1pPr algn="ctr">
              <a:defRPr b="1">
                <a:solidFill>
                  <a:schemeClr val="accent4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8F5A6A-E29E-401A-801A-8FD9CAABA7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53740" y="3429000"/>
            <a:ext cx="5684520" cy="2347596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600">
                <a:solidFill>
                  <a:schemeClr val="accent4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7B514D1-FFF2-4784-BC98-5C209566EB25}"/>
              </a:ext>
            </a:extLst>
          </p:cNvPr>
          <p:cNvSpPr/>
          <p:nvPr userDrawn="1"/>
        </p:nvSpPr>
        <p:spPr>
          <a:xfrm>
            <a:off x="0" y="0"/>
            <a:ext cx="1915886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F775047-FCCD-48A9-AE4B-E4619B3FA069}"/>
              </a:ext>
            </a:extLst>
          </p:cNvPr>
          <p:cNvSpPr/>
          <p:nvPr userDrawn="1"/>
        </p:nvSpPr>
        <p:spPr>
          <a:xfrm>
            <a:off x="10276114" y="0"/>
            <a:ext cx="1915886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Date Placeholder 4">
            <a:extLst>
              <a:ext uri="{FF2B5EF4-FFF2-40B4-BE49-F238E27FC236}">
                <a16:creationId xmlns:a16="http://schemas.microsoft.com/office/drawing/2014/main" id="{E57E5351-59BE-4BC8-83D8-BABF23172D8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7/29/20XX</a:t>
            </a:r>
          </a:p>
        </p:txBody>
      </p:sp>
      <p:sp>
        <p:nvSpPr>
          <p:cNvPr id="9" name="Footer Placeholder 5">
            <a:extLst>
              <a:ext uri="{FF2B5EF4-FFF2-40B4-BE49-F238E27FC236}">
                <a16:creationId xmlns:a16="http://schemas.microsoft.com/office/drawing/2014/main" id="{7F2C600D-D61A-47D7-88A2-66D269DCB3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 sz="900"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Employee orientation</a:t>
            </a:r>
          </a:p>
        </p:txBody>
      </p:sp>
      <p:sp>
        <p:nvSpPr>
          <p:cNvPr id="10" name="Slide Number Placeholder 6">
            <a:extLst>
              <a:ext uri="{FF2B5EF4-FFF2-40B4-BE49-F238E27FC236}">
                <a16:creationId xmlns:a16="http://schemas.microsoft.com/office/drawing/2014/main" id="{E257B2EA-F7F2-4B84-A989-76BF9D0F86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55260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90D749F-1509-46B1-B8ED-3506AC084799}"/>
              </a:ext>
            </a:extLst>
          </p:cNvPr>
          <p:cNvSpPr/>
          <p:nvPr userDrawn="1"/>
        </p:nvSpPr>
        <p:spPr>
          <a:xfrm>
            <a:off x="0" y="0"/>
            <a:ext cx="12192000" cy="198148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C626A5-4FF6-42BD-858A-AE4B2C23A6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07F18567-9326-411F-BA8D-561D58C7DD9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5607" y="4553832"/>
            <a:ext cx="2105186" cy="678667"/>
          </a:xfrm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1800">
                <a:solidFill>
                  <a:schemeClr val="accent4"/>
                </a:solidFill>
                <a:latin typeface="+mj-lt"/>
              </a:defRPr>
            </a:lvl1pPr>
          </a:lstStyle>
          <a:p>
            <a:pPr lvl="0"/>
            <a:r>
              <a:rPr lang="en-US"/>
              <a:t>Bullet 1</a:t>
            </a:r>
            <a:endParaRPr lang="en-ZA"/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97E7DC10-1618-471B-9441-C640C7FEDD37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620807" y="4553832"/>
            <a:ext cx="2105186" cy="678667"/>
          </a:xfrm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1800">
                <a:solidFill>
                  <a:schemeClr val="accent4"/>
                </a:solidFill>
                <a:latin typeface="+mj-lt"/>
              </a:defRPr>
            </a:lvl1pPr>
          </a:lstStyle>
          <a:p>
            <a:pPr lvl="0"/>
            <a:r>
              <a:rPr lang="en-US"/>
              <a:t>Bullet 2</a:t>
            </a:r>
            <a:endParaRPr lang="en-ZA"/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FDB26B40-5901-4EF0-BCF0-55677E28B176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466007" y="4553832"/>
            <a:ext cx="2105186" cy="678667"/>
          </a:xfrm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1800">
                <a:solidFill>
                  <a:schemeClr val="accent4"/>
                </a:solidFill>
                <a:latin typeface="+mj-lt"/>
              </a:defRPr>
            </a:lvl1pPr>
          </a:lstStyle>
          <a:p>
            <a:pPr lvl="0"/>
            <a:r>
              <a:rPr lang="en-US"/>
              <a:t>Bullet 3</a:t>
            </a:r>
            <a:endParaRPr lang="en-ZA"/>
          </a:p>
        </p:txBody>
      </p:sp>
      <p:sp>
        <p:nvSpPr>
          <p:cNvPr id="15" name="Text Placeholder 8">
            <a:extLst>
              <a:ext uri="{FF2B5EF4-FFF2-40B4-BE49-F238E27FC236}">
                <a16:creationId xmlns:a16="http://schemas.microsoft.com/office/drawing/2014/main" id="{9CB783F5-ED01-464E-9185-F05CFA0E84C4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9311207" y="4553832"/>
            <a:ext cx="2105186" cy="678667"/>
          </a:xfrm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1800">
                <a:solidFill>
                  <a:schemeClr val="accent4"/>
                </a:solidFill>
                <a:latin typeface="+mj-lt"/>
              </a:defRPr>
            </a:lvl1pPr>
          </a:lstStyle>
          <a:p>
            <a:pPr lvl="0"/>
            <a:r>
              <a:rPr lang="en-US"/>
              <a:t>Bullet 4</a:t>
            </a:r>
            <a:endParaRPr lang="en-ZA"/>
          </a:p>
        </p:txBody>
      </p:sp>
      <p:sp>
        <p:nvSpPr>
          <p:cNvPr id="21" name="Online Image Placeholder 20">
            <a:extLst>
              <a:ext uri="{FF2B5EF4-FFF2-40B4-BE49-F238E27FC236}">
                <a16:creationId xmlns:a16="http://schemas.microsoft.com/office/drawing/2014/main" id="{D25CFAE9-00ED-42E0-BC9A-37BA858979B3}"/>
              </a:ext>
            </a:extLst>
          </p:cNvPr>
          <p:cNvSpPr>
            <a:spLocks noGrp="1"/>
          </p:cNvSpPr>
          <p:nvPr>
            <p:ph type="clipArt" sz="quarter" idx="48"/>
          </p:nvPr>
        </p:nvSpPr>
        <p:spPr>
          <a:xfrm>
            <a:off x="1090200" y="3080256"/>
            <a:ext cx="1476375" cy="1474788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en-US"/>
              <a:t>Click icon to add online image</a:t>
            </a:r>
            <a:endParaRPr lang="en-US" dirty="0"/>
          </a:p>
        </p:txBody>
      </p:sp>
      <p:sp>
        <p:nvSpPr>
          <p:cNvPr id="22" name="Online Image Placeholder 20">
            <a:extLst>
              <a:ext uri="{FF2B5EF4-FFF2-40B4-BE49-F238E27FC236}">
                <a16:creationId xmlns:a16="http://schemas.microsoft.com/office/drawing/2014/main" id="{280D5B0E-3D2E-4146-9670-B596E8EBD129}"/>
              </a:ext>
            </a:extLst>
          </p:cNvPr>
          <p:cNvSpPr>
            <a:spLocks noGrp="1"/>
          </p:cNvSpPr>
          <p:nvPr>
            <p:ph type="clipArt" sz="quarter" idx="49"/>
          </p:nvPr>
        </p:nvSpPr>
        <p:spPr>
          <a:xfrm>
            <a:off x="3935025" y="3080256"/>
            <a:ext cx="1476375" cy="1474788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en-US"/>
              <a:t>Click icon to add online image</a:t>
            </a:r>
            <a:endParaRPr lang="en-US" dirty="0"/>
          </a:p>
        </p:txBody>
      </p:sp>
      <p:sp>
        <p:nvSpPr>
          <p:cNvPr id="23" name="Online Image Placeholder 20">
            <a:extLst>
              <a:ext uri="{FF2B5EF4-FFF2-40B4-BE49-F238E27FC236}">
                <a16:creationId xmlns:a16="http://schemas.microsoft.com/office/drawing/2014/main" id="{03D89936-E0D7-4618-9E72-EC1467568C21}"/>
              </a:ext>
            </a:extLst>
          </p:cNvPr>
          <p:cNvSpPr>
            <a:spLocks noGrp="1"/>
          </p:cNvSpPr>
          <p:nvPr>
            <p:ph type="clipArt" sz="quarter" idx="50"/>
          </p:nvPr>
        </p:nvSpPr>
        <p:spPr>
          <a:xfrm>
            <a:off x="6779850" y="3079044"/>
            <a:ext cx="1476375" cy="1474788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en-US"/>
              <a:t>Click icon to add online image</a:t>
            </a:r>
            <a:endParaRPr lang="en-US" dirty="0"/>
          </a:p>
        </p:txBody>
      </p:sp>
      <p:sp>
        <p:nvSpPr>
          <p:cNvPr id="24" name="Online Image Placeholder 20">
            <a:extLst>
              <a:ext uri="{FF2B5EF4-FFF2-40B4-BE49-F238E27FC236}">
                <a16:creationId xmlns:a16="http://schemas.microsoft.com/office/drawing/2014/main" id="{08A2E99E-9F83-4666-BD35-056C88AEBFB1}"/>
              </a:ext>
            </a:extLst>
          </p:cNvPr>
          <p:cNvSpPr>
            <a:spLocks noGrp="1"/>
          </p:cNvSpPr>
          <p:nvPr>
            <p:ph type="clipArt" sz="quarter" idx="51"/>
          </p:nvPr>
        </p:nvSpPr>
        <p:spPr>
          <a:xfrm>
            <a:off x="9625612" y="3079044"/>
            <a:ext cx="1476375" cy="1474788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en-US"/>
              <a:t>Click icon to add online image</a:t>
            </a:r>
            <a:endParaRPr lang="en-US" dirty="0"/>
          </a:p>
        </p:txBody>
      </p:sp>
      <p:sp>
        <p:nvSpPr>
          <p:cNvPr id="25" name="Date Placeholder 4">
            <a:extLst>
              <a:ext uri="{FF2B5EF4-FFF2-40B4-BE49-F238E27FC236}">
                <a16:creationId xmlns:a16="http://schemas.microsoft.com/office/drawing/2014/main" id="{8B2D064B-EC57-4EA9-96ED-918E61BFD5F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sz="900"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7/29/20XX</a:t>
            </a:r>
          </a:p>
        </p:txBody>
      </p:sp>
      <p:sp>
        <p:nvSpPr>
          <p:cNvPr id="26" name="Footer Placeholder 5">
            <a:extLst>
              <a:ext uri="{FF2B5EF4-FFF2-40B4-BE49-F238E27FC236}">
                <a16:creationId xmlns:a16="http://schemas.microsoft.com/office/drawing/2014/main" id="{B2A70FF9-0C32-4443-A788-56E40DD780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 sz="900"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Employee orientation</a:t>
            </a:r>
          </a:p>
        </p:txBody>
      </p:sp>
      <p:sp>
        <p:nvSpPr>
          <p:cNvPr id="27" name="Slide Number Placeholder 6">
            <a:extLst>
              <a:ext uri="{FF2B5EF4-FFF2-40B4-BE49-F238E27FC236}">
                <a16:creationId xmlns:a16="http://schemas.microsoft.com/office/drawing/2014/main" id="{D51176E4-E898-4497-ACF7-72CFF75FED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900"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52369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, and four images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BCCBC51-CB80-441C-9628-70A3BFA8C31A}"/>
              </a:ext>
            </a:extLst>
          </p:cNvPr>
          <p:cNvSpPr/>
          <p:nvPr userDrawn="1"/>
        </p:nvSpPr>
        <p:spPr>
          <a:xfrm>
            <a:off x="0" y="3429000"/>
            <a:ext cx="4876800" cy="3429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90D749F-1509-46B1-B8ED-3506AC084799}"/>
              </a:ext>
            </a:extLst>
          </p:cNvPr>
          <p:cNvSpPr/>
          <p:nvPr userDrawn="1"/>
        </p:nvSpPr>
        <p:spPr>
          <a:xfrm>
            <a:off x="0" y="1"/>
            <a:ext cx="4876800" cy="3429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C626A5-4FF6-42BD-858A-AE4B2C23A6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3200400" cy="2621139"/>
          </a:xfrm>
        </p:spPr>
        <p:txBody>
          <a:bodyPr anchor="b"/>
          <a:lstStyle>
            <a:lvl1pPr algn="l">
              <a:defRPr b="1">
                <a:solidFill>
                  <a:schemeClr val="accent4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07F18567-9326-411F-BA8D-561D58C7DD9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073368" y="2131457"/>
            <a:ext cx="2105186" cy="365126"/>
          </a:xfrm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1800" b="1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en-US"/>
              <a:t>Bullet 1</a:t>
            </a:r>
            <a:endParaRPr lang="en-ZA"/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97E7DC10-1618-471B-9441-C640C7FEDD37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24518" y="2131457"/>
            <a:ext cx="2105186" cy="365126"/>
          </a:xfrm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1800" b="1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en-US"/>
              <a:t>Bullet 2</a:t>
            </a:r>
            <a:endParaRPr lang="en-ZA"/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FDB26B40-5901-4EF0-BCF0-55677E28B176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074118" y="4874657"/>
            <a:ext cx="2105186" cy="365126"/>
          </a:xfrm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1800" b="1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en-US"/>
              <a:t>Bullet 3</a:t>
            </a:r>
            <a:endParaRPr lang="en-ZA"/>
          </a:p>
        </p:txBody>
      </p:sp>
      <p:sp>
        <p:nvSpPr>
          <p:cNvPr id="15" name="Text Placeholder 8">
            <a:extLst>
              <a:ext uri="{FF2B5EF4-FFF2-40B4-BE49-F238E27FC236}">
                <a16:creationId xmlns:a16="http://schemas.microsoft.com/office/drawing/2014/main" id="{9CB783F5-ED01-464E-9185-F05CFA0E84C4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8919318" y="4874657"/>
            <a:ext cx="2105186" cy="365126"/>
          </a:xfrm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1800" b="1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en-US"/>
              <a:t>Bullet 4</a:t>
            </a:r>
            <a:endParaRPr lang="en-ZA"/>
          </a:p>
        </p:txBody>
      </p:sp>
      <p:sp>
        <p:nvSpPr>
          <p:cNvPr id="21" name="Online Image Placeholder 20">
            <a:extLst>
              <a:ext uri="{FF2B5EF4-FFF2-40B4-BE49-F238E27FC236}">
                <a16:creationId xmlns:a16="http://schemas.microsoft.com/office/drawing/2014/main" id="{D25CFAE9-00ED-42E0-BC9A-37BA858979B3}"/>
              </a:ext>
            </a:extLst>
          </p:cNvPr>
          <p:cNvSpPr>
            <a:spLocks noGrp="1"/>
          </p:cNvSpPr>
          <p:nvPr>
            <p:ph type="clipArt" sz="quarter" idx="48"/>
          </p:nvPr>
        </p:nvSpPr>
        <p:spPr>
          <a:xfrm>
            <a:off x="6387961" y="643469"/>
            <a:ext cx="1476375" cy="1474788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en-US"/>
              <a:t>Click icon to add online image</a:t>
            </a:r>
            <a:endParaRPr lang="en-US" dirty="0"/>
          </a:p>
        </p:txBody>
      </p:sp>
      <p:sp>
        <p:nvSpPr>
          <p:cNvPr id="22" name="Online Image Placeholder 20">
            <a:extLst>
              <a:ext uri="{FF2B5EF4-FFF2-40B4-BE49-F238E27FC236}">
                <a16:creationId xmlns:a16="http://schemas.microsoft.com/office/drawing/2014/main" id="{280D5B0E-3D2E-4146-9670-B596E8EBD129}"/>
              </a:ext>
            </a:extLst>
          </p:cNvPr>
          <p:cNvSpPr>
            <a:spLocks noGrp="1"/>
          </p:cNvSpPr>
          <p:nvPr>
            <p:ph type="clipArt" sz="quarter" idx="49"/>
          </p:nvPr>
        </p:nvSpPr>
        <p:spPr>
          <a:xfrm>
            <a:off x="9238736" y="643469"/>
            <a:ext cx="1476375" cy="1474788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en-US"/>
              <a:t>Click icon to add online image</a:t>
            </a:r>
            <a:endParaRPr lang="en-US" dirty="0"/>
          </a:p>
        </p:txBody>
      </p:sp>
      <p:sp>
        <p:nvSpPr>
          <p:cNvPr id="23" name="Online Image Placeholder 20">
            <a:extLst>
              <a:ext uri="{FF2B5EF4-FFF2-40B4-BE49-F238E27FC236}">
                <a16:creationId xmlns:a16="http://schemas.microsoft.com/office/drawing/2014/main" id="{03D89936-E0D7-4618-9E72-EC1467568C21}"/>
              </a:ext>
            </a:extLst>
          </p:cNvPr>
          <p:cNvSpPr>
            <a:spLocks noGrp="1"/>
          </p:cNvSpPr>
          <p:nvPr>
            <p:ph type="clipArt" sz="quarter" idx="50"/>
          </p:nvPr>
        </p:nvSpPr>
        <p:spPr>
          <a:xfrm>
            <a:off x="6387961" y="3385457"/>
            <a:ext cx="1476375" cy="1474788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en-US"/>
              <a:t>Click icon to add online image</a:t>
            </a:r>
            <a:endParaRPr lang="en-US" dirty="0"/>
          </a:p>
        </p:txBody>
      </p:sp>
      <p:sp>
        <p:nvSpPr>
          <p:cNvPr id="24" name="Online Image Placeholder 20">
            <a:extLst>
              <a:ext uri="{FF2B5EF4-FFF2-40B4-BE49-F238E27FC236}">
                <a16:creationId xmlns:a16="http://schemas.microsoft.com/office/drawing/2014/main" id="{08A2E99E-9F83-4666-BD35-056C88AEBFB1}"/>
              </a:ext>
            </a:extLst>
          </p:cNvPr>
          <p:cNvSpPr>
            <a:spLocks noGrp="1"/>
          </p:cNvSpPr>
          <p:nvPr>
            <p:ph type="clipArt" sz="quarter" idx="51"/>
          </p:nvPr>
        </p:nvSpPr>
        <p:spPr>
          <a:xfrm>
            <a:off x="9233723" y="3385457"/>
            <a:ext cx="1476375" cy="1474788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en-US"/>
              <a:t>Click icon to add online image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A1CBAE-F2E5-4866-A865-C55E62573492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8200" y="4112198"/>
            <a:ext cx="3200400" cy="1395974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DA996B3F-2EC7-495F-920F-B21C55D9428F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073368" y="2577595"/>
            <a:ext cx="2105186" cy="365126"/>
          </a:xfrm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Bullet 1</a:t>
            </a:r>
            <a:endParaRPr lang="en-ZA"/>
          </a:p>
        </p:txBody>
      </p:sp>
      <p:sp>
        <p:nvSpPr>
          <p:cNvPr id="17" name="Text Placeholder 8">
            <a:extLst>
              <a:ext uri="{FF2B5EF4-FFF2-40B4-BE49-F238E27FC236}">
                <a16:creationId xmlns:a16="http://schemas.microsoft.com/office/drawing/2014/main" id="{8F06E2A5-B7ED-4E1B-9B77-DFF175FA257A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8924518" y="2577595"/>
            <a:ext cx="2105186" cy="365126"/>
          </a:xfrm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Bullet 2</a:t>
            </a:r>
            <a:endParaRPr lang="en-ZA"/>
          </a:p>
        </p:txBody>
      </p:sp>
      <p:sp>
        <p:nvSpPr>
          <p:cNvPr id="18" name="Text Placeholder 8">
            <a:extLst>
              <a:ext uri="{FF2B5EF4-FFF2-40B4-BE49-F238E27FC236}">
                <a16:creationId xmlns:a16="http://schemas.microsoft.com/office/drawing/2014/main" id="{D12A97F1-04F3-48EA-99B9-030059505D91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6074118" y="5320795"/>
            <a:ext cx="2105186" cy="365126"/>
          </a:xfrm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Bullet 3</a:t>
            </a:r>
            <a:endParaRPr lang="en-ZA"/>
          </a:p>
        </p:txBody>
      </p: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8884A8E9-B6DB-4ADD-A85B-593F618E457A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8919318" y="5320795"/>
            <a:ext cx="2105186" cy="365126"/>
          </a:xfrm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Bullet 4</a:t>
            </a:r>
            <a:endParaRPr lang="en-ZA"/>
          </a:p>
        </p:txBody>
      </p:sp>
      <p:sp>
        <p:nvSpPr>
          <p:cNvPr id="28" name="Text Placeholder 4">
            <a:extLst>
              <a:ext uri="{FF2B5EF4-FFF2-40B4-BE49-F238E27FC236}">
                <a16:creationId xmlns:a16="http://schemas.microsoft.com/office/drawing/2014/main" id="{19E1EA5F-9EF0-45C3-94DD-6DF64F4DFA15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838201" y="5511642"/>
            <a:ext cx="3200400" cy="844707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Date Placeholder 4">
            <a:extLst>
              <a:ext uri="{FF2B5EF4-FFF2-40B4-BE49-F238E27FC236}">
                <a16:creationId xmlns:a16="http://schemas.microsoft.com/office/drawing/2014/main" id="{5EBE65FE-7980-4861-93F3-178D1931E7A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sz="900">
                <a:solidFill>
                  <a:schemeClr val="accent1">
                    <a:lumMod val="40000"/>
                    <a:lumOff val="60000"/>
                  </a:schemeClr>
                </a:solidFill>
              </a:defRPr>
            </a:lvl1pPr>
          </a:lstStyle>
          <a:p>
            <a:r>
              <a:rPr lang="en-US" dirty="0"/>
              <a:t>7/29/20XX</a:t>
            </a:r>
          </a:p>
        </p:txBody>
      </p:sp>
      <p:sp>
        <p:nvSpPr>
          <p:cNvPr id="31" name="Footer Placeholder 5">
            <a:extLst>
              <a:ext uri="{FF2B5EF4-FFF2-40B4-BE49-F238E27FC236}">
                <a16:creationId xmlns:a16="http://schemas.microsoft.com/office/drawing/2014/main" id="{5941D839-A1FC-4620-8485-F69D66D599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 sz="900">
                <a:solidFill>
                  <a:schemeClr val="accent4">
                    <a:lumMod val="40000"/>
                    <a:lumOff val="60000"/>
                  </a:schemeClr>
                </a:solidFill>
              </a:defRPr>
            </a:lvl1pPr>
          </a:lstStyle>
          <a:p>
            <a:r>
              <a:rPr lang="en-US" dirty="0"/>
              <a:t>Employee orientation</a:t>
            </a:r>
          </a:p>
        </p:txBody>
      </p:sp>
      <p:sp>
        <p:nvSpPr>
          <p:cNvPr id="32" name="Slide Number Placeholder 6">
            <a:extLst>
              <a:ext uri="{FF2B5EF4-FFF2-40B4-BE49-F238E27FC236}">
                <a16:creationId xmlns:a16="http://schemas.microsoft.com/office/drawing/2014/main" id="{B3B8613F-19BE-4CDB-BC4C-C321B4B8F2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900">
                <a:solidFill>
                  <a:schemeClr val="accent4">
                    <a:lumMod val="40000"/>
                    <a:lumOff val="60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55734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776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g Chart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C626A5-4FF6-42BD-858A-AE4B2C23A6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95037"/>
            <a:ext cx="4573200" cy="1325563"/>
          </a:xfrm>
        </p:spPr>
        <p:txBody>
          <a:bodyPr/>
          <a:lstStyle>
            <a:lvl1pPr algn="l">
              <a:defRPr b="1">
                <a:solidFill>
                  <a:schemeClr val="accent4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07F18567-9326-411F-BA8D-561D58C7DD9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021635" y="2039382"/>
            <a:ext cx="2105186" cy="365125"/>
          </a:xfrm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Name</a:t>
            </a:r>
            <a:endParaRPr lang="en-ZA"/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16CC17AD-6E52-42E9-989B-FB086C64DFD1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021635" y="2408260"/>
            <a:ext cx="2105186" cy="365125"/>
          </a:xfrm>
        </p:spPr>
        <p:txBody>
          <a:bodyPr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1200">
                <a:solidFill>
                  <a:schemeClr val="accent4"/>
                </a:solidFill>
                <a:latin typeface="+mj-lt"/>
              </a:defRPr>
            </a:lvl1pPr>
          </a:lstStyle>
          <a:p>
            <a:pPr lvl="0"/>
            <a:r>
              <a:rPr lang="en-US"/>
              <a:t>Title</a:t>
            </a:r>
            <a:endParaRPr lang="en-ZA"/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D36B0D72-6C95-4E3A-A679-D94CB154306B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043407" y="4770420"/>
            <a:ext cx="2105186" cy="365125"/>
          </a:xfrm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Name</a:t>
            </a:r>
            <a:endParaRPr lang="en-ZA"/>
          </a:p>
        </p:txBody>
      </p:sp>
      <p:sp>
        <p:nvSpPr>
          <p:cNvPr id="17" name="Text Placeholder 8">
            <a:extLst>
              <a:ext uri="{FF2B5EF4-FFF2-40B4-BE49-F238E27FC236}">
                <a16:creationId xmlns:a16="http://schemas.microsoft.com/office/drawing/2014/main" id="{7E6E1537-8CF9-4C86-8E25-29BFFDAFDDD2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5043407" y="5139298"/>
            <a:ext cx="2105186" cy="365125"/>
          </a:xfrm>
        </p:spPr>
        <p:txBody>
          <a:bodyPr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1200">
                <a:solidFill>
                  <a:schemeClr val="accent4"/>
                </a:solidFill>
                <a:latin typeface="+mj-lt"/>
              </a:defRPr>
            </a:lvl1pPr>
          </a:lstStyle>
          <a:p>
            <a:pPr lvl="0"/>
            <a:r>
              <a:rPr lang="en-US"/>
              <a:t>Title</a:t>
            </a:r>
            <a:endParaRPr lang="en-ZA"/>
          </a:p>
        </p:txBody>
      </p:sp>
      <p:sp>
        <p:nvSpPr>
          <p:cNvPr id="18" name="Text Placeholder 8">
            <a:extLst>
              <a:ext uri="{FF2B5EF4-FFF2-40B4-BE49-F238E27FC236}">
                <a16:creationId xmlns:a16="http://schemas.microsoft.com/office/drawing/2014/main" id="{755E9ED2-721A-416D-AFA6-B57E6B8D8C5D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2757407" y="4758255"/>
            <a:ext cx="2105186" cy="365125"/>
          </a:xfrm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Name</a:t>
            </a:r>
            <a:endParaRPr lang="en-ZA"/>
          </a:p>
        </p:txBody>
      </p: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0DE1C87C-07E3-42FC-9B43-81D789BF794B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2757407" y="5127133"/>
            <a:ext cx="2105186" cy="365125"/>
          </a:xfrm>
        </p:spPr>
        <p:txBody>
          <a:bodyPr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1200">
                <a:solidFill>
                  <a:schemeClr val="accent4"/>
                </a:solidFill>
                <a:latin typeface="+mj-lt"/>
              </a:defRPr>
            </a:lvl1pPr>
          </a:lstStyle>
          <a:p>
            <a:pPr lvl="0"/>
            <a:r>
              <a:rPr lang="en-US"/>
              <a:t>Title</a:t>
            </a:r>
            <a:endParaRPr lang="en-ZA"/>
          </a:p>
        </p:txBody>
      </p:sp>
      <p:sp>
        <p:nvSpPr>
          <p:cNvPr id="20" name="Text Placeholder 8">
            <a:extLst>
              <a:ext uri="{FF2B5EF4-FFF2-40B4-BE49-F238E27FC236}">
                <a16:creationId xmlns:a16="http://schemas.microsoft.com/office/drawing/2014/main" id="{8556C5D2-9D30-44C4-95EA-DA672356995D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471407" y="4770420"/>
            <a:ext cx="2105186" cy="365125"/>
          </a:xfrm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Name</a:t>
            </a:r>
            <a:endParaRPr lang="en-ZA"/>
          </a:p>
        </p:txBody>
      </p:sp>
      <p:sp>
        <p:nvSpPr>
          <p:cNvPr id="25" name="Text Placeholder 8">
            <a:extLst>
              <a:ext uri="{FF2B5EF4-FFF2-40B4-BE49-F238E27FC236}">
                <a16:creationId xmlns:a16="http://schemas.microsoft.com/office/drawing/2014/main" id="{BB8DD76A-44FE-4266-9CE3-FC74ACF61470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471407" y="5139298"/>
            <a:ext cx="2105186" cy="365125"/>
          </a:xfrm>
        </p:spPr>
        <p:txBody>
          <a:bodyPr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1200">
                <a:solidFill>
                  <a:schemeClr val="accent4"/>
                </a:solidFill>
                <a:latin typeface="+mj-lt"/>
              </a:defRPr>
            </a:lvl1pPr>
          </a:lstStyle>
          <a:p>
            <a:pPr lvl="0"/>
            <a:r>
              <a:rPr lang="en-US"/>
              <a:t>Title</a:t>
            </a:r>
            <a:endParaRPr lang="en-ZA"/>
          </a:p>
        </p:txBody>
      </p:sp>
      <p:sp>
        <p:nvSpPr>
          <p:cNvPr id="26" name="Text Placeholder 8">
            <a:extLst>
              <a:ext uri="{FF2B5EF4-FFF2-40B4-BE49-F238E27FC236}">
                <a16:creationId xmlns:a16="http://schemas.microsoft.com/office/drawing/2014/main" id="{BB7FB830-D9B0-43D8-B279-D8A3831911C7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9615407" y="4758255"/>
            <a:ext cx="2105186" cy="365125"/>
          </a:xfrm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Name</a:t>
            </a:r>
            <a:endParaRPr lang="en-ZA"/>
          </a:p>
        </p:txBody>
      </p:sp>
      <p:sp>
        <p:nvSpPr>
          <p:cNvPr id="27" name="Text Placeholder 8">
            <a:extLst>
              <a:ext uri="{FF2B5EF4-FFF2-40B4-BE49-F238E27FC236}">
                <a16:creationId xmlns:a16="http://schemas.microsoft.com/office/drawing/2014/main" id="{DA699CE9-2DCD-4D59-B359-D7D3511A2158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615407" y="5127133"/>
            <a:ext cx="2105186" cy="365125"/>
          </a:xfrm>
        </p:spPr>
        <p:txBody>
          <a:bodyPr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1200">
                <a:solidFill>
                  <a:schemeClr val="accent4"/>
                </a:solidFill>
                <a:latin typeface="+mj-lt"/>
              </a:defRPr>
            </a:lvl1pPr>
          </a:lstStyle>
          <a:p>
            <a:pPr lvl="0"/>
            <a:r>
              <a:rPr lang="en-US"/>
              <a:t>Title</a:t>
            </a:r>
            <a:endParaRPr lang="en-ZA"/>
          </a:p>
        </p:txBody>
      </p:sp>
      <p:sp>
        <p:nvSpPr>
          <p:cNvPr id="28" name="Text Placeholder 8">
            <a:extLst>
              <a:ext uri="{FF2B5EF4-FFF2-40B4-BE49-F238E27FC236}">
                <a16:creationId xmlns:a16="http://schemas.microsoft.com/office/drawing/2014/main" id="{5B0C1AF9-7ECA-4F02-B71D-97228D05B031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7329407" y="4770420"/>
            <a:ext cx="2105186" cy="365125"/>
          </a:xfrm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Name</a:t>
            </a:r>
            <a:endParaRPr lang="en-ZA"/>
          </a:p>
        </p:txBody>
      </p:sp>
      <p:sp>
        <p:nvSpPr>
          <p:cNvPr id="29" name="Text Placeholder 8">
            <a:extLst>
              <a:ext uri="{FF2B5EF4-FFF2-40B4-BE49-F238E27FC236}">
                <a16:creationId xmlns:a16="http://schemas.microsoft.com/office/drawing/2014/main" id="{FE515F87-B08B-4273-9427-B4477D68E33E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7329407" y="5139298"/>
            <a:ext cx="2105186" cy="365125"/>
          </a:xfrm>
        </p:spPr>
        <p:txBody>
          <a:bodyPr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1200">
                <a:solidFill>
                  <a:schemeClr val="accent4"/>
                </a:solidFill>
                <a:latin typeface="+mj-lt"/>
              </a:defRPr>
            </a:lvl1pPr>
          </a:lstStyle>
          <a:p>
            <a:pPr lvl="0"/>
            <a:r>
              <a:rPr lang="en-US"/>
              <a:t>Title</a:t>
            </a:r>
            <a:endParaRPr lang="en-ZA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2353FBD-19BF-45E4-A6F5-4217CDAAA52E}"/>
              </a:ext>
            </a:extLst>
          </p:cNvPr>
          <p:cNvCxnSpPr/>
          <p:nvPr userDrawn="1"/>
        </p:nvCxnSpPr>
        <p:spPr>
          <a:xfrm>
            <a:off x="1513114" y="3875317"/>
            <a:ext cx="9111343" cy="0"/>
          </a:xfrm>
          <a:prstGeom prst="line">
            <a:avLst/>
          </a:prstGeom>
          <a:ln w="28575">
            <a:solidFill>
              <a:schemeClr val="accent4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1" name="Date Placeholder 4">
            <a:extLst>
              <a:ext uri="{FF2B5EF4-FFF2-40B4-BE49-F238E27FC236}">
                <a16:creationId xmlns:a16="http://schemas.microsoft.com/office/drawing/2014/main" id="{BA4BCF05-CDFF-42C0-A406-D762B747C79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sz="900"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7/29/20XX</a:t>
            </a:r>
          </a:p>
        </p:txBody>
      </p:sp>
      <p:sp>
        <p:nvSpPr>
          <p:cNvPr id="42" name="Footer Placeholder 5">
            <a:extLst>
              <a:ext uri="{FF2B5EF4-FFF2-40B4-BE49-F238E27FC236}">
                <a16:creationId xmlns:a16="http://schemas.microsoft.com/office/drawing/2014/main" id="{FE043986-6365-4919-A13C-B1086DCFF1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 sz="900"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Employee orientation</a:t>
            </a:r>
          </a:p>
        </p:txBody>
      </p:sp>
      <p:sp>
        <p:nvSpPr>
          <p:cNvPr id="43" name="Slide Number Placeholder 6">
            <a:extLst>
              <a:ext uri="{FF2B5EF4-FFF2-40B4-BE49-F238E27FC236}">
                <a16:creationId xmlns:a16="http://schemas.microsoft.com/office/drawing/2014/main" id="{4FD22B22-DA9C-4B3F-A67F-D07291278B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900"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AFAB3CE1-D027-49AE-8023-7D6E330C7E2D}"/>
              </a:ext>
            </a:extLst>
          </p:cNvPr>
          <p:cNvCxnSpPr>
            <a:cxnSpLocks/>
          </p:cNvCxnSpPr>
          <p:nvPr userDrawn="1"/>
        </p:nvCxnSpPr>
        <p:spPr>
          <a:xfrm flipV="1">
            <a:off x="6096000" y="2852057"/>
            <a:ext cx="0" cy="1643743"/>
          </a:xfrm>
          <a:prstGeom prst="line">
            <a:avLst/>
          </a:prstGeom>
          <a:ln w="28575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6B59BE6F-06DF-4031-A366-9BF6A53377C4}"/>
              </a:ext>
            </a:extLst>
          </p:cNvPr>
          <p:cNvCxnSpPr>
            <a:cxnSpLocks/>
          </p:cNvCxnSpPr>
          <p:nvPr userDrawn="1"/>
        </p:nvCxnSpPr>
        <p:spPr>
          <a:xfrm flipV="1">
            <a:off x="10611592" y="3872164"/>
            <a:ext cx="0" cy="623636"/>
          </a:xfrm>
          <a:prstGeom prst="line">
            <a:avLst/>
          </a:prstGeom>
          <a:ln w="28575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588442AB-AF81-4C81-B0CE-584EE410EB92}"/>
              </a:ext>
            </a:extLst>
          </p:cNvPr>
          <p:cNvCxnSpPr>
            <a:cxnSpLocks/>
          </p:cNvCxnSpPr>
          <p:nvPr userDrawn="1"/>
        </p:nvCxnSpPr>
        <p:spPr>
          <a:xfrm flipV="1">
            <a:off x="1513114" y="3872164"/>
            <a:ext cx="0" cy="623636"/>
          </a:xfrm>
          <a:prstGeom prst="line">
            <a:avLst/>
          </a:prstGeom>
          <a:ln w="28575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35F27884-729D-4CA6-A08A-92EBC733CCB5}"/>
              </a:ext>
            </a:extLst>
          </p:cNvPr>
          <p:cNvCxnSpPr>
            <a:cxnSpLocks/>
          </p:cNvCxnSpPr>
          <p:nvPr userDrawn="1"/>
        </p:nvCxnSpPr>
        <p:spPr>
          <a:xfrm flipV="1">
            <a:off x="3815938" y="3872164"/>
            <a:ext cx="0" cy="623636"/>
          </a:xfrm>
          <a:prstGeom prst="line">
            <a:avLst/>
          </a:prstGeom>
          <a:ln w="28575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A1F7E5A1-BEA5-447F-BED5-E18F7A1D9A37}"/>
              </a:ext>
            </a:extLst>
          </p:cNvPr>
          <p:cNvCxnSpPr>
            <a:cxnSpLocks/>
          </p:cNvCxnSpPr>
          <p:nvPr userDrawn="1"/>
        </p:nvCxnSpPr>
        <p:spPr>
          <a:xfrm flipV="1">
            <a:off x="8381011" y="3872164"/>
            <a:ext cx="0" cy="623636"/>
          </a:xfrm>
          <a:prstGeom prst="line">
            <a:avLst/>
          </a:prstGeom>
          <a:ln w="28575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850841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right content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80" y="2376805"/>
            <a:ext cx="5013960" cy="1325563"/>
          </a:xfrm>
        </p:spPr>
        <p:txBody>
          <a:bodyPr anchor="b"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8F5A6A-E29E-401A-801A-8FD9CAABA7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69280" y="4150042"/>
            <a:ext cx="5013960" cy="1961198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9197FF6-6321-41EE-A0C4-DEC0761A3C01}"/>
              </a:ext>
            </a:extLst>
          </p:cNvPr>
          <p:cNvSpPr/>
          <p:nvPr userDrawn="1"/>
        </p:nvSpPr>
        <p:spPr>
          <a:xfrm>
            <a:off x="0" y="0"/>
            <a:ext cx="417576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45EFDD-D97D-44D9-8A6D-0FACEE0964B3}"/>
              </a:ext>
            </a:extLst>
          </p:cNvPr>
          <p:cNvSpPr/>
          <p:nvPr userDrawn="1"/>
        </p:nvSpPr>
        <p:spPr>
          <a:xfrm flipV="1">
            <a:off x="371856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Date Placeholder 4">
            <a:extLst>
              <a:ext uri="{FF2B5EF4-FFF2-40B4-BE49-F238E27FC236}">
                <a16:creationId xmlns:a16="http://schemas.microsoft.com/office/drawing/2014/main" id="{9ECA7294-D791-453A-AEDA-C7BC2C83BAC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sz="90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7/29/20XX</a:t>
            </a:r>
          </a:p>
        </p:txBody>
      </p:sp>
      <p:sp>
        <p:nvSpPr>
          <p:cNvPr id="8" name="Footer Placeholder 5">
            <a:extLst>
              <a:ext uri="{FF2B5EF4-FFF2-40B4-BE49-F238E27FC236}">
                <a16:creationId xmlns:a16="http://schemas.microsoft.com/office/drawing/2014/main" id="{E3F008A3-FE03-4B55-99DE-C66C7215F5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 sz="900">
                <a:solidFill>
                  <a:schemeClr val="accent4">
                    <a:lumMod val="40000"/>
                    <a:lumOff val="60000"/>
                  </a:schemeClr>
                </a:solidFill>
              </a:defRPr>
            </a:lvl1pPr>
          </a:lstStyle>
          <a:p>
            <a:r>
              <a:rPr lang="en-US" dirty="0"/>
              <a:t>Employee orientation</a:t>
            </a:r>
          </a:p>
        </p:txBody>
      </p:sp>
      <p:sp>
        <p:nvSpPr>
          <p:cNvPr id="10" name="Slide Number Placeholder 6">
            <a:extLst>
              <a:ext uri="{FF2B5EF4-FFF2-40B4-BE49-F238E27FC236}">
                <a16:creationId xmlns:a16="http://schemas.microsoft.com/office/drawing/2014/main" id="{561AA2A7-90C9-48FA-A998-4CB16275AB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900">
                <a:solidFill>
                  <a:schemeClr val="accent4">
                    <a:lumMod val="40000"/>
                    <a:lumOff val="60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050303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losing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A3215B1E-B289-4C56-BCC0-2AB8CF93E2A1}"/>
              </a:ext>
            </a:extLst>
          </p:cNvPr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2313571"/>
            <a:ext cx="4419600" cy="1659716"/>
          </a:xfrm>
        </p:spPr>
        <p:txBody>
          <a:bodyPr anchor="ctr">
            <a:normAutofit/>
          </a:bodyPr>
          <a:lstStyle>
            <a:lvl1pPr algn="ctr">
              <a:defRPr sz="5400" b="1">
                <a:solidFill>
                  <a:schemeClr val="accent4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D32955-BB06-40DE-A14A-2170FD41AD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72402" y="2348318"/>
            <a:ext cx="2743200" cy="165971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64503-659B-472D-ABF8-01D077EB0D8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632857" cy="365125"/>
          </a:xfrm>
        </p:spPr>
        <p:txBody>
          <a:bodyPr/>
          <a:lstStyle>
            <a:lvl1pPr>
              <a:defRPr sz="900"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7/29/20XX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209C12-0CED-4CD5-B463-885A793CC2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43200" y="6356350"/>
            <a:ext cx="2514600" cy="365125"/>
          </a:xfrm>
        </p:spPr>
        <p:txBody>
          <a:bodyPr/>
          <a:lstStyle>
            <a:lvl1pPr algn="r">
              <a:defRPr sz="900"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Employee orientation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8F03DA-3AA9-44AC-8E2B-D53B8EBEA4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>
                <a:solidFill>
                  <a:schemeClr val="accent1">
                    <a:lumMod val="40000"/>
                    <a:lumOff val="60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096842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434EB92-62CF-4273-86A4-59223DABDBB8}"/>
              </a:ext>
            </a:extLst>
          </p:cNvPr>
          <p:cNvSpPr/>
          <p:nvPr userDrawn="1"/>
        </p:nvSpPr>
        <p:spPr>
          <a:xfrm>
            <a:off x="0" y="3429000"/>
            <a:ext cx="12192000" cy="3429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9A25F60-1F94-4EB8-AECE-53F9C3EBF6AC}"/>
              </a:ext>
            </a:extLst>
          </p:cNvPr>
          <p:cNvSpPr/>
          <p:nvPr userDrawn="1"/>
        </p:nvSpPr>
        <p:spPr>
          <a:xfrm>
            <a:off x="0" y="6509657"/>
            <a:ext cx="12192000" cy="34834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E3D039-0A18-4031-8A63-D83666B06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3429000"/>
            <a:ext cx="10515600" cy="3080657"/>
          </a:xfrm>
        </p:spPr>
        <p:txBody>
          <a:bodyPr anchor="ctr"/>
          <a:lstStyle>
            <a:lvl1pPr>
              <a:defRPr sz="60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5916592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slid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F8C642-49FB-4E16-A3A0-B2ACBEABFF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 b="1">
                <a:solidFill>
                  <a:schemeClr val="accent4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icture Placeholder 15">
            <a:extLst>
              <a:ext uri="{FF2B5EF4-FFF2-40B4-BE49-F238E27FC236}">
                <a16:creationId xmlns:a16="http://schemas.microsoft.com/office/drawing/2014/main" id="{A74BA5A7-7918-4C65-BAAB-14B3A1E2B4E4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>
          <a:xfrm>
            <a:off x="1521612" y="2601972"/>
            <a:ext cx="1476000" cy="1476000"/>
          </a:xfrm>
          <a:noFill/>
          <a:ln w="396875" cap="sq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0" rIns="18000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>
            <a:lvl1pPr marL="0" indent="0" algn="ctr">
              <a:buNone/>
              <a:defRPr lang="en-ZA" sz="1100" i="1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marL="266700" lvl="0" indent="-266700" algn="ctr"/>
            <a:r>
              <a:rPr lang="en-US"/>
              <a:t>Click icon to add picture</a:t>
            </a:r>
            <a:endParaRPr lang="en-ZA" dirty="0"/>
          </a:p>
        </p:txBody>
      </p:sp>
      <p:sp>
        <p:nvSpPr>
          <p:cNvPr id="7" name="Picture Placeholder 15">
            <a:extLst>
              <a:ext uri="{FF2B5EF4-FFF2-40B4-BE49-F238E27FC236}">
                <a16:creationId xmlns:a16="http://schemas.microsoft.com/office/drawing/2014/main" id="{0C5DF728-AFC5-467F-86BF-45BBD7787257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4079382" y="2601972"/>
            <a:ext cx="1476000" cy="1476000"/>
          </a:xfrm>
          <a:noFill/>
          <a:ln w="396875" cap="sq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0" rIns="18000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>
            <a:lvl1pPr marL="0" indent="0" algn="ctr">
              <a:buNone/>
              <a:defRPr lang="en-ZA" sz="1100" i="1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marL="266700" lvl="0" indent="-266700" algn="ctr"/>
            <a:r>
              <a:rPr lang="en-US"/>
              <a:t>Click icon to add picture</a:t>
            </a:r>
            <a:endParaRPr lang="en-ZA" dirty="0"/>
          </a:p>
        </p:txBody>
      </p:sp>
      <p:sp>
        <p:nvSpPr>
          <p:cNvPr id="8" name="Picture Placeholder 15">
            <a:extLst>
              <a:ext uri="{FF2B5EF4-FFF2-40B4-BE49-F238E27FC236}">
                <a16:creationId xmlns:a16="http://schemas.microsoft.com/office/drawing/2014/main" id="{BBFE7B80-0990-424B-A099-BFECB5508302}"/>
              </a:ext>
            </a:extLst>
          </p:cNvPr>
          <p:cNvSpPr>
            <a:spLocks noGrp="1"/>
          </p:cNvSpPr>
          <p:nvPr>
            <p:ph type="pic" sz="quarter" idx="44"/>
          </p:nvPr>
        </p:nvSpPr>
        <p:spPr>
          <a:xfrm>
            <a:off x="6637152" y="2601972"/>
            <a:ext cx="1476000" cy="1476000"/>
          </a:xfrm>
          <a:noFill/>
          <a:ln w="396875" cap="sq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0" rIns="18000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>
            <a:lvl1pPr marL="0" indent="0" algn="ctr">
              <a:buNone/>
              <a:defRPr lang="en-ZA" sz="1100" i="1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marL="266700" lvl="0" indent="-266700" algn="ctr"/>
            <a:r>
              <a:rPr lang="en-US"/>
              <a:t>Click icon to add picture</a:t>
            </a:r>
            <a:endParaRPr lang="en-ZA" dirty="0"/>
          </a:p>
        </p:txBody>
      </p:sp>
      <p:sp>
        <p:nvSpPr>
          <p:cNvPr id="9" name="Picture Placeholder 15">
            <a:extLst>
              <a:ext uri="{FF2B5EF4-FFF2-40B4-BE49-F238E27FC236}">
                <a16:creationId xmlns:a16="http://schemas.microsoft.com/office/drawing/2014/main" id="{5B4A0F3D-F23F-4072-9FF5-6CFE888CE1E0}"/>
              </a:ext>
            </a:extLst>
          </p:cNvPr>
          <p:cNvSpPr>
            <a:spLocks noGrp="1"/>
          </p:cNvSpPr>
          <p:nvPr>
            <p:ph type="pic" sz="quarter" idx="45"/>
          </p:nvPr>
        </p:nvSpPr>
        <p:spPr>
          <a:xfrm>
            <a:off x="9194922" y="2601972"/>
            <a:ext cx="1476000" cy="1476000"/>
          </a:xfrm>
          <a:noFill/>
          <a:ln w="396875" cap="sq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0" rIns="18000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>
            <a:lvl1pPr marL="0" indent="0" algn="ctr">
              <a:buNone/>
              <a:defRPr lang="en-ZA" sz="1100" i="1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marL="266700" lvl="0" indent="-266700" algn="ctr"/>
            <a:r>
              <a:rPr lang="en-US"/>
              <a:t>Click icon to add picture</a:t>
            </a:r>
            <a:endParaRPr lang="en-ZA" dirty="0"/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14F97182-060B-42D4-9BD6-AADEBB4691F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214950" y="4624131"/>
            <a:ext cx="2105186" cy="365125"/>
          </a:xfrm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Name</a:t>
            </a:r>
            <a:endParaRPr lang="en-ZA"/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0C32DCEC-D4CF-4F91-ABA7-22726A1E9925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214950" y="4993009"/>
            <a:ext cx="2105186" cy="365125"/>
          </a:xfrm>
        </p:spPr>
        <p:txBody>
          <a:bodyPr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1200">
                <a:solidFill>
                  <a:schemeClr val="accent4"/>
                </a:solidFill>
                <a:latin typeface="+mj-lt"/>
              </a:defRPr>
            </a:lvl1pPr>
          </a:lstStyle>
          <a:p>
            <a:pPr lvl="0"/>
            <a:r>
              <a:rPr lang="en-US"/>
              <a:t>Title</a:t>
            </a:r>
            <a:endParaRPr lang="en-ZA"/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04BECAB1-5EBD-4BC7-8F7A-8B4CA80746C4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764623" y="4624131"/>
            <a:ext cx="2105186" cy="365125"/>
          </a:xfrm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Name</a:t>
            </a:r>
            <a:endParaRPr lang="en-ZA"/>
          </a:p>
        </p:txBody>
      </p:sp>
      <p:sp>
        <p:nvSpPr>
          <p:cNvPr id="17" name="Text Placeholder 8">
            <a:extLst>
              <a:ext uri="{FF2B5EF4-FFF2-40B4-BE49-F238E27FC236}">
                <a16:creationId xmlns:a16="http://schemas.microsoft.com/office/drawing/2014/main" id="{8D671F83-5A25-4513-86E5-FFBF3BF3106F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764623" y="4993009"/>
            <a:ext cx="2105186" cy="365125"/>
          </a:xfrm>
        </p:spPr>
        <p:txBody>
          <a:bodyPr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1200">
                <a:solidFill>
                  <a:schemeClr val="accent4"/>
                </a:solidFill>
                <a:latin typeface="+mj-lt"/>
              </a:defRPr>
            </a:lvl1pPr>
          </a:lstStyle>
          <a:p>
            <a:pPr lvl="0"/>
            <a:r>
              <a:rPr lang="en-US"/>
              <a:t>Title</a:t>
            </a:r>
            <a:endParaRPr lang="en-ZA"/>
          </a:p>
        </p:txBody>
      </p: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F6EE3639-A148-489C-A695-7EA2313AEF3B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4296" y="4624131"/>
            <a:ext cx="2105186" cy="365125"/>
          </a:xfrm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Name</a:t>
            </a:r>
            <a:endParaRPr lang="en-ZA"/>
          </a:p>
        </p:txBody>
      </p:sp>
      <p:sp>
        <p:nvSpPr>
          <p:cNvPr id="20" name="Text Placeholder 8">
            <a:extLst>
              <a:ext uri="{FF2B5EF4-FFF2-40B4-BE49-F238E27FC236}">
                <a16:creationId xmlns:a16="http://schemas.microsoft.com/office/drawing/2014/main" id="{BB55BB21-9247-450C-9A9D-D2AD9161E10F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6314296" y="4993009"/>
            <a:ext cx="2105186" cy="365125"/>
          </a:xfrm>
        </p:spPr>
        <p:txBody>
          <a:bodyPr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1200">
                <a:solidFill>
                  <a:schemeClr val="accent4"/>
                </a:solidFill>
                <a:latin typeface="+mj-lt"/>
              </a:defRPr>
            </a:lvl1pPr>
          </a:lstStyle>
          <a:p>
            <a:pPr lvl="0"/>
            <a:r>
              <a:rPr lang="en-US"/>
              <a:t>Title</a:t>
            </a:r>
            <a:endParaRPr lang="en-ZA"/>
          </a:p>
        </p:txBody>
      </p:sp>
      <p:sp>
        <p:nvSpPr>
          <p:cNvPr id="22" name="Text Placeholder 8">
            <a:extLst>
              <a:ext uri="{FF2B5EF4-FFF2-40B4-BE49-F238E27FC236}">
                <a16:creationId xmlns:a16="http://schemas.microsoft.com/office/drawing/2014/main" id="{934A7F7B-4591-45E6-AF17-EC81162B7336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8863969" y="4624131"/>
            <a:ext cx="2105186" cy="365125"/>
          </a:xfrm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Name</a:t>
            </a:r>
            <a:endParaRPr lang="en-ZA"/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730702B6-2129-4FAB-8868-58B59C11FFCD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8863969" y="4993009"/>
            <a:ext cx="2105186" cy="365125"/>
          </a:xfrm>
        </p:spPr>
        <p:txBody>
          <a:bodyPr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1200">
                <a:solidFill>
                  <a:schemeClr val="accent4"/>
                </a:solidFill>
                <a:latin typeface="+mj-lt"/>
              </a:defRPr>
            </a:lvl1pPr>
          </a:lstStyle>
          <a:p>
            <a:pPr lvl="0"/>
            <a:r>
              <a:rPr lang="en-US"/>
              <a:t>Title</a:t>
            </a:r>
            <a:endParaRPr lang="en-ZA"/>
          </a:p>
        </p:txBody>
      </p:sp>
      <p:sp>
        <p:nvSpPr>
          <p:cNvPr id="24" name="Date Placeholder 4">
            <a:extLst>
              <a:ext uri="{FF2B5EF4-FFF2-40B4-BE49-F238E27FC236}">
                <a16:creationId xmlns:a16="http://schemas.microsoft.com/office/drawing/2014/main" id="{AD0AC7DB-F500-41DA-8326-3ED61B33F92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sz="900"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7/29/20XX</a:t>
            </a:r>
          </a:p>
        </p:txBody>
      </p:sp>
      <p:sp>
        <p:nvSpPr>
          <p:cNvPr id="25" name="Footer Placeholder 5">
            <a:extLst>
              <a:ext uri="{FF2B5EF4-FFF2-40B4-BE49-F238E27FC236}">
                <a16:creationId xmlns:a16="http://schemas.microsoft.com/office/drawing/2014/main" id="{798612DF-528A-42D7-8634-25EFF61598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 sz="900"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Employee orientation</a:t>
            </a:r>
          </a:p>
        </p:txBody>
      </p:sp>
      <p:sp>
        <p:nvSpPr>
          <p:cNvPr id="26" name="Slide Number Placeholder 6">
            <a:extLst>
              <a:ext uri="{FF2B5EF4-FFF2-40B4-BE49-F238E27FC236}">
                <a16:creationId xmlns:a16="http://schemas.microsoft.com/office/drawing/2014/main" id="{1E3817B4-A707-4ACC-9CAC-E32B5E0A4F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900"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38629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B4660D4-B0ED-42D9-BC6D-AF4F1F9C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C607AE-E8B7-4C3B-A6DA-04289E2F0A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1917CC-671D-47EA-B065-51E87EC27B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7/29/20XX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2D0B54-5D87-4D1B-9C6E-5A7B87C833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Employee orientation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CADFFD-0FF7-4DDC-8879-918576F63E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4305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7" r:id="rId3"/>
    <p:sldLayoutId id="2147483674" r:id="rId4"/>
    <p:sldLayoutId id="2147483671" r:id="rId5"/>
    <p:sldLayoutId id="2147483666" r:id="rId6"/>
    <p:sldLayoutId id="2147483669" r:id="rId7"/>
    <p:sldLayoutId id="2147483661" r:id="rId8"/>
    <p:sldLayoutId id="2147483676" r:id="rId9"/>
    <p:sldLayoutId id="2147483670" r:id="rId10"/>
    <p:sldLayoutId id="2147483667" r:id="rId11"/>
    <p:sldLayoutId id="2147483673" r:id="rId12"/>
    <p:sldLayoutId id="2147483651" r:id="rId13"/>
    <p:sldLayoutId id="2147483672" r:id="rId14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815C6-3AD0-46E6-A74A-1967BD91AF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6313" y="1280160"/>
            <a:ext cx="7728423" cy="3145536"/>
          </a:xfrm>
        </p:spPr>
        <p:txBody>
          <a:bodyPr>
            <a:normAutofit fontScale="90000"/>
          </a:bodyPr>
          <a:lstStyle/>
          <a:p>
            <a:pPr algn="ctr"/>
            <a:r>
              <a:rPr lang="en-US" b="0" dirty="0" err="1">
                <a:solidFill>
                  <a:schemeClr val="bg1">
                    <a:lumMod val="95000"/>
                  </a:schemeClr>
                </a:solidFill>
              </a:rPr>
              <a:t>Poređenje</a:t>
            </a:r>
            <a:r>
              <a:rPr lang="en-US" b="0" dirty="0">
                <a:solidFill>
                  <a:schemeClr val="bg1">
                    <a:lumMod val="95000"/>
                  </a:schemeClr>
                </a:solidFill>
              </a:rPr>
              <a:t> row </a:t>
            </a:r>
            <a:r>
              <a:rPr lang="en-US" b="0" dirty="0" err="1">
                <a:solidFill>
                  <a:schemeClr val="bg1">
                    <a:lumMod val="95000"/>
                  </a:schemeClr>
                </a:solidFill>
              </a:rPr>
              <a:t>i</a:t>
            </a:r>
            <a:r>
              <a:rPr lang="en-US" b="0" dirty="0">
                <a:solidFill>
                  <a:schemeClr val="bg1">
                    <a:lumMod val="95000"/>
                  </a:schemeClr>
                </a:solidFill>
              </a:rPr>
              <a:t> column </a:t>
            </a:r>
            <a:r>
              <a:rPr lang="en-US" b="0" dirty="0" err="1">
                <a:solidFill>
                  <a:schemeClr val="bg1">
                    <a:lumMod val="95000"/>
                  </a:schemeClr>
                </a:solidFill>
              </a:rPr>
              <a:t>modela</a:t>
            </a:r>
            <a:r>
              <a:rPr lang="en-US" b="0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b="0" dirty="0" err="1">
                <a:solidFill>
                  <a:schemeClr val="bg1">
                    <a:lumMod val="95000"/>
                  </a:schemeClr>
                </a:solidFill>
              </a:rPr>
              <a:t>organizacije</a:t>
            </a:r>
            <a:r>
              <a:rPr lang="en-US" b="0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b="0" dirty="0" err="1">
                <a:solidFill>
                  <a:schemeClr val="bg1">
                    <a:lumMod val="95000"/>
                  </a:schemeClr>
                </a:solidFill>
              </a:rPr>
              <a:t>podataka</a:t>
            </a:r>
            <a:r>
              <a:rPr lang="en-US" b="0" dirty="0">
                <a:solidFill>
                  <a:schemeClr val="bg1">
                    <a:lumMod val="95000"/>
                  </a:schemeClr>
                </a:solidFill>
              </a:rPr>
              <a:t> u PostgreSQL </a:t>
            </a:r>
            <a:r>
              <a:rPr lang="en-US" b="0" dirty="0" err="1">
                <a:solidFill>
                  <a:schemeClr val="bg1">
                    <a:lumMod val="95000"/>
                  </a:schemeClr>
                </a:solidFill>
              </a:rPr>
              <a:t>i</a:t>
            </a:r>
            <a:r>
              <a:rPr lang="en-US" b="0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b="0" dirty="0" err="1">
                <a:solidFill>
                  <a:schemeClr val="bg1">
                    <a:lumMod val="95000"/>
                  </a:schemeClr>
                </a:solidFill>
              </a:rPr>
              <a:t>DuckDB</a:t>
            </a:r>
            <a:r>
              <a:rPr lang="en-US" b="0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b="0" dirty="0" err="1">
                <a:solidFill>
                  <a:schemeClr val="bg1">
                    <a:lumMod val="95000"/>
                  </a:schemeClr>
                </a:solidFill>
              </a:rPr>
              <a:t>bazama</a:t>
            </a:r>
            <a:r>
              <a:rPr lang="en-US" b="0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b="0" dirty="0" err="1">
                <a:solidFill>
                  <a:schemeClr val="bg1">
                    <a:lumMod val="95000"/>
                  </a:schemeClr>
                </a:solidFill>
              </a:rPr>
              <a:t>podataka</a:t>
            </a:r>
            <a:endParaRPr lang="en-US" b="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68EF4674-71BE-586D-5996-EEB7C87F84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41536" y="5955355"/>
            <a:ext cx="2883408" cy="783773"/>
          </a:xfrm>
        </p:spPr>
        <p:txBody>
          <a:bodyPr>
            <a:normAutofit fontScale="85000" lnSpcReduction="10000"/>
          </a:bodyPr>
          <a:lstStyle/>
          <a:p>
            <a:r>
              <a:rPr lang="sr-Latn-RS" kern="100" spc="-10" dirty="0">
                <a:solidFill>
                  <a:schemeClr val="tx1"/>
                </a:solidFill>
              </a:rPr>
              <a:t>Student:</a:t>
            </a:r>
          </a:p>
          <a:p>
            <a:r>
              <a:rPr lang="sr-Latn-RS" kern="100" spc="-10" dirty="0">
                <a:solidFill>
                  <a:schemeClr val="tx1"/>
                </a:solidFill>
              </a:rPr>
              <a:t>Jana Arsić, br. ind. 2085 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24253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AB90E9-5CEE-4E4F-90F9-2CE3D9135E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0" y="136525"/>
            <a:ext cx="5684520" cy="1325563"/>
          </a:xfrm>
        </p:spPr>
        <p:txBody>
          <a:bodyPr/>
          <a:lstStyle/>
          <a:p>
            <a:r>
              <a:rPr lang="sr-Latn-RS" dirty="0"/>
              <a:t>Pregled prezentacije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DF4BB2-624B-43EE-8846-5659141CC9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5265" y="1838482"/>
            <a:ext cx="7099664" cy="4306285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sr-Latn-RS" dirty="0">
                <a:ea typeface="Calibri" pitchFamily="34" charset="-122"/>
                <a:cs typeface="Calibri" pitchFamily="34" charset="-120"/>
              </a:rPr>
              <a:t>Cilj</a:t>
            </a:r>
            <a:r>
              <a:rPr lang="en-US" dirty="0">
                <a:ea typeface="Calibri" pitchFamily="34" charset="-122"/>
                <a:cs typeface="Calibri" pitchFamily="34" charset="-120"/>
              </a:rPr>
              <a:t> rada</a:t>
            </a:r>
            <a:endParaRPr lang="sr-Latn-RS" dirty="0">
              <a:ea typeface="Calibri" pitchFamily="34" charset="-122"/>
              <a:cs typeface="Calibri" pitchFamily="34" charset="-120"/>
            </a:endParaRPr>
          </a:p>
          <a:p>
            <a:pPr marL="342900" indent="-342900">
              <a:buFont typeface="+mj-lt"/>
              <a:buAutoNum type="arabicPeriod"/>
            </a:pPr>
            <a:r>
              <a:rPr lang="sr-Latn-RS" dirty="0">
                <a:ea typeface="Calibri" pitchFamily="34" charset="-122"/>
                <a:cs typeface="Calibri" pitchFamily="34" charset="-120"/>
              </a:rPr>
              <a:t>OLTP i OLAP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ea typeface="Calibri" pitchFamily="34" charset="-122"/>
                <a:cs typeface="Calibri" pitchFamily="34" charset="-120"/>
              </a:rPr>
              <a:t>Row-oriented model</a:t>
            </a:r>
            <a:endParaRPr lang="sr-Latn-RS" dirty="0">
              <a:ea typeface="Calibri" pitchFamily="34" charset="-122"/>
              <a:cs typeface="Calibri" pitchFamily="34" charset="-12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ea typeface="Calibri" pitchFamily="34" charset="-122"/>
                <a:cs typeface="Calibri" pitchFamily="34" charset="-120"/>
              </a:rPr>
              <a:t> Column-oriented </a:t>
            </a:r>
            <a:r>
              <a:rPr lang="sr-Latn-RS" dirty="0">
                <a:ea typeface="Calibri" pitchFamily="34" charset="-122"/>
                <a:cs typeface="Calibri" pitchFamily="34" charset="-120"/>
              </a:rPr>
              <a:t> model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ea typeface="Calibri" pitchFamily="34" charset="-122"/>
                <a:cs typeface="Calibri" pitchFamily="34" charset="-120"/>
              </a:rPr>
              <a:t>PostgreSQL </a:t>
            </a:r>
            <a:endParaRPr lang="sr-Latn-RS" dirty="0">
              <a:ea typeface="Calibri" pitchFamily="34" charset="-122"/>
              <a:cs typeface="Calibri" pitchFamily="34" charset="-12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dirty="0" err="1">
                <a:ea typeface="Calibri" pitchFamily="34" charset="-122"/>
                <a:cs typeface="Calibri" pitchFamily="34" charset="-120"/>
              </a:rPr>
              <a:t>DuckDB</a:t>
            </a: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sr-Latn-RS" dirty="0">
                <a:ea typeface="Calibri" pitchFamily="34" charset="-122"/>
                <a:cs typeface="Calibri" pitchFamily="34" charset="-120"/>
              </a:rPr>
              <a:t>Testiranje</a:t>
            </a: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 err="1">
                <a:ea typeface="Calibri" pitchFamily="34" charset="-122"/>
                <a:cs typeface="Calibri" pitchFamily="34" charset="-120"/>
              </a:rPr>
              <a:t>Rezultati</a:t>
            </a:r>
            <a:r>
              <a:rPr lang="en-US" dirty="0">
                <a:ea typeface="Calibri" pitchFamily="34" charset="-122"/>
                <a:cs typeface="Calibri" pitchFamily="34" charset="-120"/>
              </a:rPr>
              <a:t> </a:t>
            </a:r>
            <a:r>
              <a:rPr lang="sr-Latn-RS" dirty="0">
                <a:ea typeface="Calibri" pitchFamily="34" charset="-122"/>
                <a:cs typeface="Calibri" pitchFamily="34" charset="-120"/>
              </a:rPr>
              <a:t>testiranja</a:t>
            </a:r>
          </a:p>
          <a:p>
            <a:pPr marL="342900" indent="-342900">
              <a:buFont typeface="+mj-lt"/>
              <a:buAutoNum type="arabicPeriod"/>
            </a:pPr>
            <a:r>
              <a:rPr lang="sr-Latn-RS" dirty="0"/>
              <a:t>Poređenje vremenaa izvršavanja</a:t>
            </a:r>
          </a:p>
          <a:p>
            <a:pPr marL="342900" indent="-342900">
              <a:buFont typeface="+mj-lt"/>
              <a:buAutoNum type="arabicPeriod"/>
            </a:pPr>
            <a:r>
              <a:rPr lang="sr-Latn-RS" dirty="0"/>
              <a:t>Zašto su rezultati takvi?</a:t>
            </a:r>
          </a:p>
          <a:p>
            <a:pPr marL="342900" indent="-342900">
              <a:buFont typeface="+mj-lt"/>
              <a:buAutoNum type="arabicPeriod"/>
            </a:pPr>
            <a:r>
              <a:rPr lang="sr-Latn-RS" dirty="0"/>
              <a:t>Da li su sistemi konkuretni?</a:t>
            </a: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 err="1">
                <a:ea typeface="Calibri" pitchFamily="34" charset="-122"/>
                <a:cs typeface="Calibri" pitchFamily="34" charset="-120"/>
              </a:rPr>
              <a:t>Zaključak</a:t>
            </a:r>
            <a:endParaRPr lang="en-US" dirty="0"/>
          </a:p>
          <a:p>
            <a:endParaRPr lang="en-US" sz="1400" dirty="0"/>
          </a:p>
          <a:p>
            <a:pPr marL="342900" indent="-342900">
              <a:buFont typeface="+mj-lt"/>
              <a:buAutoNum type="arabicPeriod"/>
            </a:pPr>
            <a:endParaRPr lang="en-US" sz="1400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FF0DADF7-71F8-49DA-8F56-3DE812A613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67503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19F29B-F233-48AF-8261-F33A4E079E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572515"/>
            <a:ext cx="5684520" cy="1305562"/>
          </a:xfrm>
        </p:spPr>
        <p:txBody>
          <a:bodyPr/>
          <a:lstStyle/>
          <a:p>
            <a:pPr algn="l"/>
            <a:r>
              <a:rPr lang="sr-Latn-RS" dirty="0"/>
              <a:t>Cilj rada</a:t>
            </a:r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8F602C-7F98-4C02-99D4-ED65E00D6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19B51A1E-902D-48AF-9020-955120F399B6}" type="slidenum">
              <a:rPr lang="en-ZA" smtClean="0"/>
              <a:pPr/>
              <a:t>3</a:t>
            </a:fld>
            <a:endParaRPr lang="en-ZA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2DF9876-9EA1-C51B-A8E0-1D17B4CA11FE}"/>
              </a:ext>
            </a:extLst>
          </p:cNvPr>
          <p:cNvSpPr txBox="1"/>
          <p:nvPr/>
        </p:nvSpPr>
        <p:spPr>
          <a:xfrm>
            <a:off x="527254" y="2069026"/>
            <a:ext cx="10826545" cy="37753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Aft>
                <a:spcPts val="400"/>
              </a:spcAft>
              <a:buNone/>
            </a:pPr>
            <a:r>
              <a:rPr lang="en-US" sz="2400" dirty="0" err="1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Dve</a:t>
            </a:r>
            <a:r>
              <a:rPr lang="en-US" sz="240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dirty="0" err="1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baze</a:t>
            </a:r>
            <a:r>
              <a:rPr lang="en-US" sz="240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dirty="0" err="1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mogu</a:t>
            </a:r>
            <a:r>
              <a:rPr lang="en-US" sz="240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dirty="0" err="1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koristiti</a:t>
            </a:r>
            <a:r>
              <a:rPr lang="en-US" sz="240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dirty="0" err="1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isti</a:t>
            </a:r>
            <a:r>
              <a:rPr lang="en-US" sz="240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dirty="0" err="1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jezik</a:t>
            </a:r>
            <a:r>
              <a:rPr lang="en-US" sz="240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 (SQL) </a:t>
            </a:r>
            <a:r>
              <a:rPr lang="en-US" sz="2400" dirty="0" err="1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i</a:t>
            </a:r>
            <a:r>
              <a:rPr lang="en-US" sz="240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dirty="0" err="1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imati</a:t>
            </a:r>
            <a:r>
              <a:rPr lang="en-US" sz="240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dirty="0" err="1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istu</a:t>
            </a:r>
            <a:r>
              <a:rPr lang="en-US" sz="240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dirty="0" err="1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tabelarnu</a:t>
            </a:r>
            <a:r>
              <a:rPr lang="en-US" sz="240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dirty="0" err="1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strukturu</a:t>
            </a:r>
            <a:r>
              <a:rPr lang="en-US" sz="240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, </a:t>
            </a:r>
            <a:r>
              <a:rPr lang="en-US" sz="2400" dirty="0" err="1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ali</a:t>
            </a:r>
            <a:r>
              <a:rPr lang="en-US" sz="240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 se </a:t>
            </a:r>
            <a:r>
              <a:rPr lang="en-US" sz="2400" dirty="0" err="1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ponašati</a:t>
            </a:r>
            <a:r>
              <a:rPr lang="en-US" sz="240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dirty="0" err="1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potpuno</a:t>
            </a:r>
            <a:r>
              <a:rPr lang="en-US" sz="240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dirty="0" err="1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različito</a:t>
            </a:r>
            <a:r>
              <a:rPr lang="en-US" sz="240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.</a:t>
            </a:r>
            <a:endParaRPr lang="en-US" sz="2400" dirty="0"/>
          </a:p>
          <a:p>
            <a:pPr marL="0" indent="0">
              <a:spcAft>
                <a:spcPts val="400"/>
              </a:spcAft>
              <a:buNone/>
            </a:pPr>
            <a:endParaRPr lang="en-US" sz="2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2400" dirty="0" err="1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Razlog</a:t>
            </a:r>
            <a:r>
              <a:rPr lang="en-US" sz="240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 je u tome </a:t>
            </a:r>
            <a:r>
              <a:rPr lang="en-US" sz="2400" dirty="0" err="1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kako</a:t>
            </a:r>
            <a:r>
              <a:rPr lang="en-US" sz="240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dirty="0" err="1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interno</a:t>
            </a:r>
            <a:r>
              <a:rPr lang="en-US" sz="240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dirty="0" err="1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čuvaju</a:t>
            </a:r>
            <a:r>
              <a:rPr lang="en-US" sz="240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dirty="0" err="1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podatke</a:t>
            </a:r>
            <a:r>
              <a:rPr lang="en-US" sz="240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:</a:t>
            </a:r>
            <a:endParaRPr lang="en-US" sz="2400" dirty="0"/>
          </a:p>
          <a:p>
            <a:pPr marL="0" indent="0">
              <a:spcAft>
                <a:spcPts val="400"/>
              </a:spcAft>
              <a:buNone/>
            </a:pPr>
            <a:endParaRPr lang="en-US" sz="2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40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PostgreSQL — </a:t>
            </a:r>
            <a:r>
              <a:rPr lang="en-US" sz="2400" dirty="0" err="1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čuva</a:t>
            </a:r>
            <a:r>
              <a:rPr lang="en-US" sz="240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dirty="0" err="1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podatke</a:t>
            </a:r>
            <a:r>
              <a:rPr lang="en-US" sz="240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 po </a:t>
            </a:r>
            <a:r>
              <a:rPr lang="en-US" sz="2400" dirty="0" err="1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redovima</a:t>
            </a:r>
            <a:r>
              <a:rPr lang="en-US" sz="240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 (row-oriented)</a:t>
            </a:r>
            <a:endParaRPr lang="en-US" sz="2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400" dirty="0" err="1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DuckDB</a:t>
            </a:r>
            <a:r>
              <a:rPr lang="en-US" sz="240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 — </a:t>
            </a:r>
            <a:r>
              <a:rPr lang="en-US" sz="2400" dirty="0" err="1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čuva</a:t>
            </a:r>
            <a:r>
              <a:rPr lang="en-US" sz="240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dirty="0" err="1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podatke</a:t>
            </a:r>
            <a:r>
              <a:rPr lang="en-US" sz="240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 po </a:t>
            </a:r>
            <a:r>
              <a:rPr lang="en-US" sz="2400" dirty="0" err="1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kolonama</a:t>
            </a:r>
            <a:r>
              <a:rPr lang="en-US" sz="240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 (column-oriented)</a:t>
            </a:r>
            <a:endParaRPr lang="en-US" sz="2400" dirty="0"/>
          </a:p>
          <a:p>
            <a:pPr marL="0" indent="0">
              <a:spcAft>
                <a:spcPts val="400"/>
              </a:spcAft>
              <a:buNone/>
            </a:pPr>
            <a:endParaRPr lang="en-US" sz="2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2400" b="1" dirty="0" err="1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Cilj</a:t>
            </a:r>
            <a:r>
              <a:rPr lang="en-US" sz="2400" b="1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: </a:t>
            </a:r>
            <a:r>
              <a:rPr lang="en-US" sz="2400" b="1" dirty="0" err="1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pokazati</a:t>
            </a:r>
            <a:r>
              <a:rPr lang="en-US" sz="2400" b="1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b="1" dirty="0" err="1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na</a:t>
            </a:r>
            <a:r>
              <a:rPr lang="en-US" sz="2400" b="1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b="1" dirty="0" err="1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konkretnim</a:t>
            </a:r>
            <a:r>
              <a:rPr lang="en-US" sz="2400" b="1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 SQL </a:t>
            </a:r>
            <a:r>
              <a:rPr lang="en-US" sz="2400" b="1" dirty="0" err="1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primerima</a:t>
            </a:r>
            <a:r>
              <a:rPr lang="en-US" sz="2400" b="1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b="1" dirty="0" err="1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kada</a:t>
            </a:r>
            <a:r>
              <a:rPr lang="en-US" sz="2400" b="1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 je koji </a:t>
            </a:r>
            <a:r>
              <a:rPr lang="en-US" sz="2400" b="1" dirty="0" err="1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pristup</a:t>
            </a:r>
            <a:r>
              <a:rPr lang="en-US" sz="2400" b="1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b="1" dirty="0" err="1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brži</a:t>
            </a:r>
            <a:r>
              <a:rPr lang="en-US" sz="2400" b="1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b="1" dirty="0" err="1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i</a:t>
            </a:r>
            <a:r>
              <a:rPr lang="en-US" sz="2400" b="1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b="1" dirty="0" err="1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zašto</a:t>
            </a:r>
            <a:r>
              <a:rPr lang="en-US" sz="2400" b="1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2434949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0C482D-E9F6-10B9-2561-674469D7DA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1B2A4A"/>
                </a:solidFill>
                <a:latin typeface="+mn-lt"/>
                <a:ea typeface="Georgia" pitchFamily="34" charset="-122"/>
                <a:cs typeface="Georgia" pitchFamily="34" charset="-120"/>
              </a:rPr>
              <a:t>OLTP </a:t>
            </a:r>
            <a:r>
              <a:rPr lang="en-US" dirty="0" err="1">
                <a:solidFill>
                  <a:srgbClr val="1B2A4A"/>
                </a:solidFill>
                <a:latin typeface="+mn-lt"/>
                <a:ea typeface="Georgia" pitchFamily="34" charset="-122"/>
                <a:cs typeface="Georgia" pitchFamily="34" charset="-120"/>
              </a:rPr>
              <a:t>i</a:t>
            </a:r>
            <a:r>
              <a:rPr lang="en-US" dirty="0">
                <a:solidFill>
                  <a:srgbClr val="1B2A4A"/>
                </a:solidFill>
                <a:latin typeface="+mn-lt"/>
                <a:ea typeface="Georgia" pitchFamily="34" charset="-122"/>
                <a:cs typeface="Georgia" pitchFamily="34" charset="-120"/>
              </a:rPr>
              <a:t> OLAP — </a:t>
            </a:r>
            <a:r>
              <a:rPr lang="en-US" dirty="0" err="1">
                <a:solidFill>
                  <a:srgbClr val="1B2A4A"/>
                </a:solidFill>
                <a:latin typeface="+mn-lt"/>
                <a:ea typeface="Georgia" pitchFamily="34" charset="-122"/>
                <a:cs typeface="Georgia" pitchFamily="34" charset="-120"/>
              </a:rPr>
              <a:t>dva</a:t>
            </a:r>
            <a:r>
              <a:rPr lang="en-US" dirty="0">
                <a:solidFill>
                  <a:srgbClr val="1B2A4A"/>
                </a:solidFill>
                <a:latin typeface="+mn-lt"/>
                <a:ea typeface="Georgia" pitchFamily="34" charset="-122"/>
                <a:cs typeface="Georgia" pitchFamily="34" charset="-120"/>
              </a:rPr>
              <a:t> </a:t>
            </a:r>
            <a:r>
              <a:rPr lang="en-US" dirty="0" err="1">
                <a:solidFill>
                  <a:srgbClr val="1B2A4A"/>
                </a:solidFill>
                <a:latin typeface="+mn-lt"/>
                <a:ea typeface="Georgia" pitchFamily="34" charset="-122"/>
                <a:cs typeface="Georgia" pitchFamily="34" charset="-120"/>
              </a:rPr>
              <a:t>tipa</a:t>
            </a:r>
            <a:r>
              <a:rPr lang="en-US" dirty="0">
                <a:solidFill>
                  <a:srgbClr val="1B2A4A"/>
                </a:solidFill>
                <a:latin typeface="+mn-lt"/>
                <a:ea typeface="Georgia" pitchFamily="34" charset="-122"/>
                <a:cs typeface="Georgia" pitchFamily="34" charset="-120"/>
              </a:rPr>
              <a:t> </a:t>
            </a:r>
            <a:r>
              <a:rPr lang="en-US" dirty="0" err="1">
                <a:solidFill>
                  <a:srgbClr val="1B2A4A"/>
                </a:solidFill>
                <a:latin typeface="+mn-lt"/>
                <a:ea typeface="Georgia" pitchFamily="34" charset="-122"/>
                <a:cs typeface="Georgia" pitchFamily="34" charset="-120"/>
              </a:rPr>
              <a:t>opterećenja</a:t>
            </a:r>
            <a:endParaRPr lang="en-US" dirty="0">
              <a:latin typeface="+mn-lt"/>
            </a:endParaRPr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E4369DE2-3E5A-16C9-8897-CEEDDB6EF7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18" name="Shape 1">
            <a:extLst>
              <a:ext uri="{FF2B5EF4-FFF2-40B4-BE49-F238E27FC236}">
                <a16:creationId xmlns:a16="http://schemas.microsoft.com/office/drawing/2014/main" id="{3EC0670E-38D7-7E99-C076-687DEC780B95}"/>
              </a:ext>
            </a:extLst>
          </p:cNvPr>
          <p:cNvSpPr/>
          <p:nvPr/>
        </p:nvSpPr>
        <p:spPr>
          <a:xfrm>
            <a:off x="877824" y="1690688"/>
            <a:ext cx="4194048" cy="411480"/>
          </a:xfrm>
          <a:prstGeom prst="rect">
            <a:avLst/>
          </a:prstGeom>
          <a:solidFill>
            <a:schemeClr val="accent6">
              <a:lumMod val="75000"/>
            </a:schemeClr>
          </a:solidFill>
          <a:ln/>
        </p:spPr>
        <p:txBody>
          <a:bodyPr/>
          <a:lstStyle/>
          <a:p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OLTP — Online Transaction Processing</a:t>
            </a:r>
            <a:endParaRPr lang="en-US" dirty="0"/>
          </a:p>
        </p:txBody>
      </p:sp>
      <p:sp>
        <p:nvSpPr>
          <p:cNvPr id="19" name="Shape 6">
            <a:extLst>
              <a:ext uri="{FF2B5EF4-FFF2-40B4-BE49-F238E27FC236}">
                <a16:creationId xmlns:a16="http://schemas.microsoft.com/office/drawing/2014/main" id="{707BAF89-C0BF-7AFE-E840-53E1666401E9}"/>
              </a:ext>
            </a:extLst>
          </p:cNvPr>
          <p:cNvSpPr/>
          <p:nvPr/>
        </p:nvSpPr>
        <p:spPr>
          <a:xfrm>
            <a:off x="6364224" y="1690688"/>
            <a:ext cx="4194048" cy="411480"/>
          </a:xfrm>
          <a:prstGeom prst="rect">
            <a:avLst/>
          </a:prstGeom>
          <a:solidFill>
            <a:srgbClr val="E6A800"/>
          </a:solidFill>
          <a:ln/>
        </p:spPr>
        <p:txBody>
          <a:bodyPr/>
          <a:lstStyle/>
          <a:p>
            <a:r>
              <a:rPr lang="en-US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OLAP — Online Analytical Processing</a:t>
            </a:r>
            <a:endParaRPr lang="en-US" dirty="0"/>
          </a:p>
        </p:txBody>
      </p:sp>
      <p:sp>
        <p:nvSpPr>
          <p:cNvPr id="20" name="Shape 1">
            <a:extLst>
              <a:ext uri="{FF2B5EF4-FFF2-40B4-BE49-F238E27FC236}">
                <a16:creationId xmlns:a16="http://schemas.microsoft.com/office/drawing/2014/main" id="{D236CCDC-B44B-1947-4051-20003F506CFF}"/>
              </a:ext>
            </a:extLst>
          </p:cNvPr>
          <p:cNvSpPr/>
          <p:nvPr/>
        </p:nvSpPr>
        <p:spPr>
          <a:xfrm>
            <a:off x="877824" y="2102169"/>
            <a:ext cx="4194048" cy="2972752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Veliki </a:t>
            </a:r>
            <a:r>
              <a:rPr lang="en-US" sz="1600" dirty="0" err="1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broj</a:t>
            </a:r>
            <a:r>
              <a:rPr lang="en-US" sz="160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manjih</a:t>
            </a:r>
            <a:r>
              <a:rPr lang="en-US" sz="160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operacija</a:t>
            </a:r>
            <a:r>
              <a:rPr lang="en-US" sz="160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: </a:t>
            </a:r>
            <a:r>
              <a:rPr lang="en-US" sz="1600" dirty="0" err="1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unos</a:t>
            </a:r>
            <a:r>
              <a:rPr lang="en-US" sz="160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, </a:t>
            </a:r>
            <a:r>
              <a:rPr lang="en-US" sz="1600" dirty="0" err="1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izmena</a:t>
            </a:r>
            <a:r>
              <a:rPr lang="en-US" sz="160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, </a:t>
            </a:r>
            <a:r>
              <a:rPr lang="en-US" sz="1600" dirty="0" err="1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brisanje</a:t>
            </a:r>
            <a:r>
              <a:rPr lang="en-US" sz="160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, </a:t>
            </a:r>
            <a:r>
              <a:rPr lang="en-US" sz="1600" dirty="0" err="1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čitanje</a:t>
            </a:r>
            <a:r>
              <a:rPr lang="en-US" sz="160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jednog</a:t>
            </a:r>
            <a:r>
              <a:rPr lang="en-US" sz="160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zapisa</a:t>
            </a:r>
            <a:endParaRPr lang="en-US" sz="1600" dirty="0"/>
          </a:p>
          <a:p>
            <a:pPr>
              <a:spcAft>
                <a:spcPts val="300"/>
              </a:spcAft>
            </a:pPr>
            <a:endParaRPr lang="en-US" sz="16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Primer: </a:t>
            </a:r>
            <a:r>
              <a:rPr lang="en-US" sz="1600" dirty="0" err="1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registracija</a:t>
            </a:r>
            <a:r>
              <a:rPr lang="en-US" sz="160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korisnika</a:t>
            </a:r>
            <a:r>
              <a:rPr lang="en-US" sz="160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, </a:t>
            </a:r>
            <a:r>
              <a:rPr lang="en-US" sz="1600" dirty="0" err="1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obrada</a:t>
            </a:r>
            <a:r>
              <a:rPr lang="en-US" sz="160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porudžbine</a:t>
            </a:r>
            <a:r>
              <a:rPr lang="en-US" sz="160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, </a:t>
            </a:r>
            <a:r>
              <a:rPr lang="en-US" sz="1600" dirty="0" err="1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promena</a:t>
            </a:r>
            <a:r>
              <a:rPr lang="en-US" sz="160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statusa</a:t>
            </a:r>
            <a:r>
              <a:rPr lang="en-US" sz="160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rezervacije</a:t>
            </a:r>
            <a:endParaRPr lang="en-US" sz="1600" dirty="0"/>
          </a:p>
          <a:p>
            <a:pPr>
              <a:spcAft>
                <a:spcPts val="300"/>
              </a:spcAft>
            </a:pPr>
            <a:endParaRPr lang="en-US" sz="16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Radi </a:t>
            </a:r>
            <a:r>
              <a:rPr lang="en-US" sz="1600" dirty="0" err="1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sa</a:t>
            </a:r>
            <a:r>
              <a:rPr lang="en-US" sz="160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jednim</a:t>
            </a:r>
            <a:r>
              <a:rPr lang="en-US" sz="160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ili</a:t>
            </a:r>
            <a:r>
              <a:rPr lang="en-US" sz="160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nekoliko</a:t>
            </a:r>
            <a:r>
              <a:rPr lang="en-US" sz="160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redova</a:t>
            </a:r>
            <a:endParaRPr lang="en-US" sz="1600" dirty="0"/>
          </a:p>
          <a:p>
            <a:pPr>
              <a:spcAft>
                <a:spcPts val="300"/>
              </a:spcAft>
            </a:pPr>
            <a:endParaRPr lang="en-US" sz="16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600" dirty="0" err="1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Važno</a:t>
            </a:r>
            <a:r>
              <a:rPr lang="en-US" sz="160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: </a:t>
            </a:r>
            <a:r>
              <a:rPr lang="en-US" sz="1600" dirty="0" err="1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brzina</a:t>
            </a:r>
            <a:r>
              <a:rPr lang="en-US" sz="160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, </a:t>
            </a:r>
            <a:r>
              <a:rPr lang="en-US" sz="1600" dirty="0" err="1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tačnost</a:t>
            </a:r>
            <a:r>
              <a:rPr lang="en-US" sz="160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, </a:t>
            </a:r>
            <a:r>
              <a:rPr lang="en-US" sz="1600" dirty="0" err="1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pouzdanost</a:t>
            </a:r>
            <a:endParaRPr lang="en-US" sz="1600" dirty="0"/>
          </a:p>
          <a:p>
            <a:pPr>
              <a:spcAft>
                <a:spcPts val="300"/>
              </a:spcAft>
            </a:pPr>
            <a:endParaRPr lang="en-US" sz="1600" dirty="0"/>
          </a:p>
        </p:txBody>
      </p:sp>
      <p:sp>
        <p:nvSpPr>
          <p:cNvPr id="21" name="Shape 1">
            <a:extLst>
              <a:ext uri="{FF2B5EF4-FFF2-40B4-BE49-F238E27FC236}">
                <a16:creationId xmlns:a16="http://schemas.microsoft.com/office/drawing/2014/main" id="{21E73D7E-C5E0-7DF9-2708-A3E5C2524B24}"/>
              </a:ext>
            </a:extLst>
          </p:cNvPr>
          <p:cNvSpPr/>
          <p:nvPr/>
        </p:nvSpPr>
        <p:spPr>
          <a:xfrm>
            <a:off x="6364224" y="2102168"/>
            <a:ext cx="4194048" cy="3042703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Analiza </a:t>
            </a:r>
            <a:r>
              <a:rPr lang="en-US" sz="1600" dirty="0" err="1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velikih</a:t>
            </a:r>
            <a:r>
              <a:rPr lang="en-US" sz="160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količina</a:t>
            </a:r>
            <a:r>
              <a:rPr lang="en-US" sz="160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podataka</a:t>
            </a:r>
            <a:r>
              <a:rPr lang="en-US" sz="160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: </a:t>
            </a:r>
            <a:r>
              <a:rPr lang="en-US" sz="1600" dirty="0" err="1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agregacije</a:t>
            </a:r>
            <a:r>
              <a:rPr lang="en-US" sz="160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, </a:t>
            </a:r>
            <a:r>
              <a:rPr lang="en-US" sz="1600" dirty="0" err="1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grupisanja</a:t>
            </a:r>
            <a:r>
              <a:rPr lang="en-US" sz="160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, </a:t>
            </a:r>
            <a:r>
              <a:rPr lang="en-US" sz="1600" dirty="0" err="1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izveštaji</a:t>
            </a:r>
            <a:endParaRPr lang="en-US" sz="1600" dirty="0"/>
          </a:p>
          <a:p>
            <a:pPr>
              <a:spcAft>
                <a:spcPts val="300"/>
              </a:spcAft>
            </a:pPr>
            <a:endParaRPr lang="en-US" sz="16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Primer: </a:t>
            </a:r>
            <a:r>
              <a:rPr lang="en-US" sz="1600" dirty="0" err="1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ukupna</a:t>
            </a:r>
            <a:r>
              <a:rPr lang="en-US" sz="160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prodaja</a:t>
            </a:r>
            <a:r>
              <a:rPr lang="en-US" sz="160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 po </a:t>
            </a:r>
            <a:r>
              <a:rPr lang="en-US" sz="1600" dirty="0" err="1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gradovima</a:t>
            </a:r>
            <a:r>
              <a:rPr lang="en-US" sz="160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 za </a:t>
            </a:r>
            <a:r>
              <a:rPr lang="en-US" sz="1600" dirty="0" err="1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poslednji</a:t>
            </a:r>
            <a:r>
              <a:rPr lang="en-US" sz="160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kvartal</a:t>
            </a:r>
            <a:endParaRPr lang="en-US" sz="1600" dirty="0"/>
          </a:p>
          <a:p>
            <a:pPr>
              <a:spcAft>
                <a:spcPts val="300"/>
              </a:spcAft>
            </a:pPr>
            <a:endParaRPr lang="en-US" sz="16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600" dirty="0" err="1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Obrađuje</a:t>
            </a:r>
            <a:r>
              <a:rPr lang="en-US" sz="160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hiljade</a:t>
            </a:r>
            <a:r>
              <a:rPr lang="en-US" sz="160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redova</a:t>
            </a:r>
            <a:r>
              <a:rPr lang="en-US" sz="160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, </a:t>
            </a:r>
            <a:r>
              <a:rPr lang="en-US" sz="1600" dirty="0" err="1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ali</a:t>
            </a:r>
            <a:r>
              <a:rPr lang="en-US" sz="160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koristi</a:t>
            </a:r>
            <a:r>
              <a:rPr lang="en-US" sz="160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samo</a:t>
            </a:r>
            <a:r>
              <a:rPr lang="en-US" sz="160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 2-3 </a:t>
            </a:r>
            <a:r>
              <a:rPr lang="en-US" sz="1600" dirty="0" err="1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kolone</a:t>
            </a:r>
            <a:endParaRPr lang="en-US" sz="1600" dirty="0"/>
          </a:p>
          <a:p>
            <a:pPr>
              <a:spcAft>
                <a:spcPts val="300"/>
              </a:spcAft>
            </a:pPr>
            <a:endParaRPr lang="en-US" sz="16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600" dirty="0" err="1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Važno</a:t>
            </a:r>
            <a:r>
              <a:rPr lang="en-US" sz="160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: </a:t>
            </a:r>
            <a:r>
              <a:rPr lang="en-US" sz="1600" dirty="0" err="1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brzina</a:t>
            </a:r>
            <a:r>
              <a:rPr lang="en-US" sz="160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čitanja</a:t>
            </a:r>
            <a:r>
              <a:rPr lang="en-US" sz="160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, </a:t>
            </a:r>
            <a:r>
              <a:rPr lang="en-US" sz="1600" dirty="0" err="1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efikasnost</a:t>
            </a:r>
            <a:r>
              <a:rPr lang="en-US" sz="160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obrade</a:t>
            </a:r>
            <a:endParaRPr lang="en-US" sz="1600" dirty="0"/>
          </a:p>
          <a:p>
            <a:pPr>
              <a:spcAft>
                <a:spcPts val="300"/>
              </a:spcAft>
            </a:pPr>
            <a:endParaRPr lang="en-US" sz="16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D478135-2769-0C35-3239-3C8DC7F5DC33}"/>
              </a:ext>
            </a:extLst>
          </p:cNvPr>
          <p:cNvSpPr txBox="1"/>
          <p:nvPr/>
        </p:nvSpPr>
        <p:spPr>
          <a:xfrm>
            <a:off x="6364224" y="5283446"/>
            <a:ext cx="609447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lang="en-US" sz="1600" dirty="0">
                <a:solidFill>
                  <a:srgbClr val="E6A800"/>
                </a:solidFill>
                <a:ea typeface="Consolas" pitchFamily="34" charset="-122"/>
                <a:cs typeface="Consolas" pitchFamily="34" charset="-120"/>
              </a:rPr>
              <a:t>SELECT city, SUM(price) GROUP BY city;</a:t>
            </a:r>
            <a:endParaRPr lang="en-US" sz="20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ABFC3E2-1F8C-CAA6-F306-D7DFF567DED5}"/>
              </a:ext>
            </a:extLst>
          </p:cNvPr>
          <p:cNvSpPr txBox="1"/>
          <p:nvPr/>
        </p:nvSpPr>
        <p:spPr>
          <a:xfrm>
            <a:off x="877824" y="5283446"/>
            <a:ext cx="623163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lang="en-US" sz="1600" dirty="0">
                <a:solidFill>
                  <a:schemeClr val="accent6">
                    <a:lumMod val="75000"/>
                  </a:schemeClr>
                </a:solidFill>
                <a:ea typeface="Consolas" pitchFamily="34" charset="-122"/>
                <a:cs typeface="Consolas" pitchFamily="34" charset="-120"/>
              </a:rPr>
              <a:t>SELECT * FROM sales WHERE id = 5;</a:t>
            </a:r>
            <a:endParaRPr lang="en-US" sz="20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28" name="Text 9">
            <a:extLst>
              <a:ext uri="{FF2B5EF4-FFF2-40B4-BE49-F238E27FC236}">
                <a16:creationId xmlns:a16="http://schemas.microsoft.com/office/drawing/2014/main" id="{B5373693-79F6-E997-4930-8B9669BF65CF}"/>
              </a:ext>
            </a:extLst>
          </p:cNvPr>
          <p:cNvSpPr/>
          <p:nvPr/>
        </p:nvSpPr>
        <p:spPr>
          <a:xfrm>
            <a:off x="6324600" y="5760575"/>
            <a:ext cx="4233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C000"/>
                </a:solidFill>
                <a:ea typeface="Calibri" pitchFamily="34" charset="-122"/>
                <a:cs typeface="Calibri" pitchFamily="34" charset="-120"/>
              </a:rPr>
              <a:t>Column-oriented (DuckDB) → optimizovan za OLAP</a:t>
            </a:r>
            <a:endParaRPr lang="en-US" sz="1600" dirty="0">
              <a:solidFill>
                <a:srgbClr val="FFC000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F302B3A-E753-85BA-188A-F9C4B5D01D77}"/>
              </a:ext>
            </a:extLst>
          </p:cNvPr>
          <p:cNvSpPr txBox="1"/>
          <p:nvPr/>
        </p:nvSpPr>
        <p:spPr>
          <a:xfrm>
            <a:off x="838200" y="5737989"/>
            <a:ext cx="423367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chemeClr val="accent6">
                    <a:lumMod val="75000"/>
                  </a:schemeClr>
                </a:solidFill>
                <a:latin typeface="+mj-lt"/>
                <a:ea typeface="Calibri" pitchFamily="34" charset="-122"/>
                <a:cs typeface="Calibri" pitchFamily="34" charset="-120"/>
              </a:rPr>
              <a:t>Row-oriented (PostgreSQL) → </a:t>
            </a:r>
            <a:r>
              <a:rPr lang="en-US" sz="1600" b="1" dirty="0" err="1">
                <a:solidFill>
                  <a:schemeClr val="accent6">
                    <a:lumMod val="75000"/>
                  </a:schemeClr>
                </a:solidFill>
                <a:latin typeface="+mj-lt"/>
                <a:ea typeface="Calibri" pitchFamily="34" charset="-122"/>
                <a:cs typeface="Calibri" pitchFamily="34" charset="-120"/>
              </a:rPr>
              <a:t>optimizovan</a:t>
            </a:r>
            <a:r>
              <a:rPr lang="en-US" sz="1600" b="1" dirty="0">
                <a:solidFill>
                  <a:schemeClr val="accent6">
                    <a:lumMod val="75000"/>
                  </a:schemeClr>
                </a:solidFill>
                <a:latin typeface="+mj-lt"/>
                <a:ea typeface="Calibri" pitchFamily="34" charset="-122"/>
                <a:cs typeface="Calibri" pitchFamily="34" charset="-120"/>
              </a:rPr>
              <a:t> za OLTP </a:t>
            </a:r>
            <a:endParaRPr lang="en-US" sz="1600" dirty="0">
              <a:solidFill>
                <a:schemeClr val="accent6">
                  <a:lumMod val="75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8485018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A6F7BB-30A8-4980-AD4A-2FB0B53FA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05891"/>
          </a:xfrm>
        </p:spPr>
        <p:txBody>
          <a:bodyPr/>
          <a:lstStyle/>
          <a:p>
            <a:r>
              <a:rPr lang="en-US" dirty="0">
                <a:solidFill>
                  <a:srgbClr val="1B2A4A"/>
                </a:solidFill>
                <a:ea typeface="Georgia" pitchFamily="34" charset="-122"/>
                <a:cs typeface="Georgia" pitchFamily="34" charset="-120"/>
              </a:rPr>
              <a:t>Row-oriented </a:t>
            </a:r>
            <a:r>
              <a:rPr lang="sr-Latn-RS" dirty="0">
                <a:solidFill>
                  <a:srgbClr val="1B2A4A"/>
                </a:solidFill>
                <a:ea typeface="Georgia" pitchFamily="34" charset="-122"/>
                <a:cs typeface="Georgia" pitchFamily="34" charset="-120"/>
              </a:rPr>
              <a:t>model</a:t>
            </a:r>
            <a:endParaRPr lang="en-US" dirty="0"/>
          </a:p>
        </p:txBody>
      </p:sp>
      <p:sp>
        <p:nvSpPr>
          <p:cNvPr id="63" name="Slide Number Placeholder 62">
            <a:extLst>
              <a:ext uri="{FF2B5EF4-FFF2-40B4-BE49-F238E27FC236}">
                <a16:creationId xmlns:a16="http://schemas.microsoft.com/office/drawing/2014/main" id="{22B5CBBF-FB43-46F2-8846-3DF85C2652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10312"/>
            <a:ext cx="2743200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5</a:t>
            </a:fld>
            <a:endParaRPr lang="en-US" dirty="0"/>
          </a:p>
        </p:txBody>
      </p:sp>
      <p:graphicFrame>
        <p:nvGraphicFramePr>
          <p:cNvPr id="52" name="Table 51">
            <a:extLst>
              <a:ext uri="{FF2B5EF4-FFF2-40B4-BE49-F238E27FC236}">
                <a16:creationId xmlns:a16="http://schemas.microsoft.com/office/drawing/2014/main" id="{B94B2866-58E3-E2ED-CBCC-000B77658D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3778925"/>
              </p:ext>
            </p:extLst>
          </p:nvPr>
        </p:nvGraphicFramePr>
        <p:xfrm>
          <a:off x="963168" y="1887562"/>
          <a:ext cx="8418576" cy="2226284"/>
        </p:xfrm>
        <a:graphic>
          <a:graphicData uri="http://schemas.openxmlformats.org/drawingml/2006/table">
            <a:tbl>
              <a:tblPr firstRow="1" bandRow="1">
                <a:tableStyleId>{68D230F3-CF80-4859-8CE7-A43EE81993B5}</a:tableStyleId>
              </a:tblPr>
              <a:tblGrid>
                <a:gridCol w="2104644">
                  <a:extLst>
                    <a:ext uri="{9D8B030D-6E8A-4147-A177-3AD203B41FA5}">
                      <a16:colId xmlns:a16="http://schemas.microsoft.com/office/drawing/2014/main" val="3020584605"/>
                    </a:ext>
                  </a:extLst>
                </a:gridCol>
                <a:gridCol w="2104644">
                  <a:extLst>
                    <a:ext uri="{9D8B030D-6E8A-4147-A177-3AD203B41FA5}">
                      <a16:colId xmlns:a16="http://schemas.microsoft.com/office/drawing/2014/main" val="3078307069"/>
                    </a:ext>
                  </a:extLst>
                </a:gridCol>
                <a:gridCol w="2104644">
                  <a:extLst>
                    <a:ext uri="{9D8B030D-6E8A-4147-A177-3AD203B41FA5}">
                      <a16:colId xmlns:a16="http://schemas.microsoft.com/office/drawing/2014/main" val="3025977937"/>
                    </a:ext>
                  </a:extLst>
                </a:gridCol>
                <a:gridCol w="2104644">
                  <a:extLst>
                    <a:ext uri="{9D8B030D-6E8A-4147-A177-3AD203B41FA5}">
                      <a16:colId xmlns:a16="http://schemas.microsoft.com/office/drawing/2014/main" val="994300609"/>
                    </a:ext>
                  </a:extLst>
                </a:gridCol>
              </a:tblGrid>
              <a:tr h="556571">
                <a:tc>
                  <a:txBody>
                    <a:bodyPr/>
                    <a:lstStyle/>
                    <a:p>
                      <a:r>
                        <a:rPr lang="sr-Latn-RS" dirty="0"/>
                        <a:t>id</a:t>
                      </a:r>
                      <a:endParaRPr 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sr-Latn-RS" dirty="0"/>
                        <a:t>ime</a:t>
                      </a:r>
                      <a:endParaRPr 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sr-Latn-RS" dirty="0"/>
                        <a:t>grad</a:t>
                      </a:r>
                      <a:endParaRPr 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sr-Latn-RS" dirty="0"/>
                        <a:t>cena</a:t>
                      </a:r>
                      <a:endParaRPr 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5731071"/>
                  </a:ext>
                </a:extLst>
              </a:tr>
              <a:tr h="556571">
                <a:tc>
                  <a:txBody>
                    <a:bodyPr/>
                    <a:lstStyle/>
                    <a:p>
                      <a:r>
                        <a:rPr lang="sr-Latn-RS" dirty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r-Latn-RS" dirty="0"/>
                        <a:t>Marko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r-Latn-RS" dirty="0"/>
                        <a:t>Beograd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r-Latn-RS" dirty="0"/>
                        <a:t>85000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9723058"/>
                  </a:ext>
                </a:extLst>
              </a:tr>
              <a:tr h="556571">
                <a:tc>
                  <a:txBody>
                    <a:bodyPr/>
                    <a:lstStyle/>
                    <a:p>
                      <a:r>
                        <a:rPr lang="sr-Latn-RS" dirty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r-Latn-RS" dirty="0"/>
                        <a:t>Ana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r-Latn-RS" dirty="0"/>
                        <a:t>Niš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r-Latn-RS" dirty="0"/>
                        <a:t>45000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5235418"/>
                  </a:ext>
                </a:extLst>
              </a:tr>
              <a:tr h="556571">
                <a:tc>
                  <a:txBody>
                    <a:bodyPr/>
                    <a:lstStyle/>
                    <a:p>
                      <a:r>
                        <a:rPr lang="sr-Latn-RS" dirty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r-Latn-RS" dirty="0"/>
                        <a:t>Petar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r-Latn-RS" dirty="0"/>
                        <a:t>Novi Sad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r-Latn-RS" dirty="0"/>
                        <a:t>30000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9830406"/>
                  </a:ext>
                </a:extLst>
              </a:tr>
            </a:tbl>
          </a:graphicData>
        </a:graphic>
      </p:graphicFrame>
      <p:sp>
        <p:nvSpPr>
          <p:cNvPr id="55" name="TextBox 54">
            <a:extLst>
              <a:ext uri="{FF2B5EF4-FFF2-40B4-BE49-F238E27FC236}">
                <a16:creationId xmlns:a16="http://schemas.microsoft.com/office/drawing/2014/main" id="{A79A6711-CB08-CF96-D680-BF0BCF8AE41C}"/>
              </a:ext>
            </a:extLst>
          </p:cNvPr>
          <p:cNvSpPr txBox="1"/>
          <p:nvPr/>
        </p:nvSpPr>
        <p:spPr>
          <a:xfrm>
            <a:off x="963168" y="1409455"/>
            <a:ext cx="60984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Svi </a:t>
            </a:r>
            <a:r>
              <a:rPr lang="en-US" sz="1800" i="1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podaci</a:t>
            </a:r>
            <a:r>
              <a:rPr lang="en-US" sz="18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i="1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jednog</a:t>
            </a:r>
            <a:r>
              <a:rPr lang="en-US" sz="18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i="1" dirty="0" err="1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reda</a:t>
            </a:r>
            <a:r>
              <a:rPr lang="en-US" sz="18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i="1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čuvaju</a:t>
            </a:r>
            <a:r>
              <a:rPr lang="en-US" sz="18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 </a:t>
            </a:r>
            <a:r>
              <a:rPr lang="en-US" sz="1800" i="1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zajedno</a:t>
            </a:r>
            <a:r>
              <a:rPr lang="en-US" sz="18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i="1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</a:t>
            </a:r>
            <a:r>
              <a:rPr lang="en-US" sz="18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i="1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istom</a:t>
            </a:r>
            <a:r>
              <a:rPr lang="en-US" sz="18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i="1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mestu</a:t>
            </a:r>
            <a:r>
              <a:rPr lang="en-US" sz="18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800" dirty="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1A61E573-FFB0-9170-0F73-2F252168E343}"/>
              </a:ext>
            </a:extLst>
          </p:cNvPr>
          <p:cNvSpPr txBox="1"/>
          <p:nvPr/>
        </p:nvSpPr>
        <p:spPr>
          <a:xfrm>
            <a:off x="838200" y="4222621"/>
            <a:ext cx="92750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chemeClr val="accent6">
                    <a:lumMod val="7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Red 1:  1 | Marko | Beograd | 85000 ← </a:t>
            </a:r>
            <a:r>
              <a:rPr lang="en-US" sz="1800" dirty="0" err="1">
                <a:solidFill>
                  <a:schemeClr val="accent6">
                    <a:lumMod val="7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sve</a:t>
            </a:r>
            <a:r>
              <a:rPr lang="en-US" sz="1800" dirty="0">
                <a:solidFill>
                  <a:schemeClr val="accent6">
                    <a:lumMod val="7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 err="1">
                <a:solidFill>
                  <a:schemeClr val="accent6">
                    <a:lumMod val="7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zajedno</a:t>
            </a:r>
            <a:r>
              <a:rPr lang="en-US" sz="1800" dirty="0">
                <a:solidFill>
                  <a:schemeClr val="accent6">
                    <a:lumMod val="7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 err="1">
                <a:solidFill>
                  <a:schemeClr val="accent6">
                    <a:lumMod val="7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</a:t>
            </a:r>
            <a:r>
              <a:rPr lang="en-US" sz="1800" dirty="0">
                <a:solidFill>
                  <a:schemeClr val="accent6">
                    <a:lumMod val="7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 err="1">
                <a:solidFill>
                  <a:schemeClr val="accent6">
                    <a:lumMod val="7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jednoj</a:t>
            </a:r>
            <a:r>
              <a:rPr lang="en-US" sz="1800" dirty="0">
                <a:solidFill>
                  <a:schemeClr val="accent6">
                    <a:lumMod val="7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 err="1">
                <a:solidFill>
                  <a:schemeClr val="accent6">
                    <a:lumMod val="7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stranici</a:t>
            </a:r>
            <a:endParaRPr lang="en-US" sz="18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01C4CA74-A261-F76F-C277-814605377424}"/>
              </a:ext>
            </a:extLst>
          </p:cNvPr>
          <p:cNvSpPr txBox="1"/>
          <p:nvPr/>
        </p:nvSpPr>
        <p:spPr>
          <a:xfrm>
            <a:off x="838200" y="4730392"/>
            <a:ext cx="8607552" cy="1579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Aft>
                <a:spcPts val="400"/>
              </a:spcAft>
              <a:buNone/>
            </a:pPr>
            <a:r>
              <a:rPr lang="en-US" sz="180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Kada </a:t>
            </a:r>
            <a:r>
              <a:rPr lang="en-US" sz="1800" dirty="0" err="1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tražimo</a:t>
            </a:r>
            <a:r>
              <a:rPr lang="en-US" sz="180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dirty="0" err="1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jedan</a:t>
            </a:r>
            <a:r>
              <a:rPr lang="en-US" sz="180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dirty="0" err="1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konkretan</a:t>
            </a:r>
            <a:r>
              <a:rPr lang="en-US" sz="180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dirty="0" err="1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zapis</a:t>
            </a:r>
            <a:r>
              <a:rPr lang="en-US" sz="180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 (</a:t>
            </a:r>
            <a:r>
              <a:rPr lang="en-US" sz="1800" dirty="0" err="1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npr</a:t>
            </a:r>
            <a:r>
              <a:rPr lang="en-US" sz="180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. WHERE id = 1), </a:t>
            </a:r>
            <a:r>
              <a:rPr lang="en-US" sz="1800" dirty="0" err="1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sistem</a:t>
            </a:r>
            <a:r>
              <a:rPr lang="en-US" sz="180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dirty="0" err="1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čita</a:t>
            </a:r>
            <a:r>
              <a:rPr lang="en-US" sz="180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dirty="0" err="1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jednu</a:t>
            </a:r>
            <a:r>
              <a:rPr lang="en-US" sz="180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dirty="0" err="1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stranicu</a:t>
            </a:r>
            <a:r>
              <a:rPr lang="en-US" sz="180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dirty="0" err="1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i</a:t>
            </a:r>
            <a:r>
              <a:rPr lang="en-US" sz="180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dirty="0" err="1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odmah</a:t>
            </a:r>
            <a:r>
              <a:rPr lang="en-US" sz="180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dirty="0" err="1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ima</a:t>
            </a:r>
            <a:r>
              <a:rPr lang="en-US" sz="180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dirty="0" err="1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sve</a:t>
            </a:r>
            <a:r>
              <a:rPr lang="en-US" sz="180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dirty="0" err="1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podatke</a:t>
            </a:r>
            <a:r>
              <a:rPr lang="en-US" sz="180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.</a:t>
            </a:r>
            <a:endParaRPr lang="en-US" sz="1800" dirty="0"/>
          </a:p>
          <a:p>
            <a:pPr marL="0" indent="0">
              <a:spcAft>
                <a:spcPts val="400"/>
              </a:spcAft>
              <a:buNone/>
            </a:pPr>
            <a:endParaRPr lang="en-US" sz="18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Problem: </a:t>
            </a:r>
            <a:r>
              <a:rPr lang="en-US" sz="180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Kada </a:t>
            </a:r>
            <a:r>
              <a:rPr lang="en-US" sz="1800" dirty="0" err="1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treba</a:t>
            </a:r>
            <a:r>
              <a:rPr lang="en-US" sz="180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 da </a:t>
            </a:r>
            <a:r>
              <a:rPr lang="en-US" sz="1800" dirty="0" err="1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saberemo</a:t>
            </a:r>
            <a:r>
              <a:rPr lang="en-US" sz="180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dirty="0" err="1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sve</a:t>
            </a:r>
            <a:r>
              <a:rPr lang="en-US" sz="180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dirty="0" err="1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cene</a:t>
            </a:r>
            <a:r>
              <a:rPr lang="en-US" sz="180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 (SUM(price)), </a:t>
            </a:r>
            <a:r>
              <a:rPr lang="en-US" sz="1800" dirty="0" err="1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sistem</a:t>
            </a:r>
            <a:r>
              <a:rPr lang="en-US" sz="180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 mora da </a:t>
            </a:r>
            <a:r>
              <a:rPr lang="en-US" sz="1800" dirty="0" err="1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pročita</a:t>
            </a:r>
            <a:r>
              <a:rPr lang="en-US" sz="180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 SVE </a:t>
            </a:r>
            <a:r>
              <a:rPr lang="en-US" sz="1800" dirty="0" err="1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kolone</a:t>
            </a:r>
            <a:r>
              <a:rPr lang="en-US" sz="180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dirty="0" err="1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svakog</a:t>
            </a:r>
            <a:r>
              <a:rPr lang="en-US" sz="180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dirty="0" err="1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reda</a:t>
            </a:r>
            <a:r>
              <a:rPr lang="en-US" sz="180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 — </a:t>
            </a:r>
            <a:r>
              <a:rPr lang="en-US" sz="1800" dirty="0" err="1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i</a:t>
            </a:r>
            <a:r>
              <a:rPr lang="en-US" sz="180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dirty="0" err="1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ime</a:t>
            </a:r>
            <a:r>
              <a:rPr lang="en-US" sz="180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, </a:t>
            </a:r>
            <a:r>
              <a:rPr lang="en-US" sz="1800" dirty="0" err="1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i</a:t>
            </a:r>
            <a:r>
              <a:rPr lang="en-US" sz="180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 grad, </a:t>
            </a:r>
            <a:r>
              <a:rPr lang="en-US" sz="1800" dirty="0" err="1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i</a:t>
            </a:r>
            <a:r>
              <a:rPr lang="en-US" sz="180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dirty="0" err="1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sve</a:t>
            </a:r>
            <a:r>
              <a:rPr lang="en-US" sz="180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dirty="0" err="1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ostalo</a:t>
            </a:r>
            <a:r>
              <a:rPr lang="en-US" sz="180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 — </a:t>
            </a:r>
            <a:r>
              <a:rPr lang="en-US" sz="1800" dirty="0" err="1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iako</a:t>
            </a:r>
            <a:r>
              <a:rPr lang="en-US" sz="180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 mu </a:t>
            </a:r>
            <a:r>
              <a:rPr lang="en-US" sz="1800" dirty="0" err="1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trebaju</a:t>
            </a:r>
            <a:r>
              <a:rPr lang="en-US" sz="180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dirty="0" err="1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samo</a:t>
            </a:r>
            <a:r>
              <a:rPr lang="en-US" sz="180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dirty="0" err="1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cene</a:t>
            </a:r>
            <a:r>
              <a:rPr lang="en-US" sz="180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.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4774530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09332B-4C31-9ABA-3C2C-251B6A2EF0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F4F5BF-655A-BE2B-A870-E4DB352BA4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24179"/>
          </a:xfrm>
        </p:spPr>
        <p:txBody>
          <a:bodyPr/>
          <a:lstStyle/>
          <a:p>
            <a:r>
              <a:rPr lang="en-US" dirty="0">
                <a:solidFill>
                  <a:srgbClr val="1B2A4A"/>
                </a:solidFill>
                <a:ea typeface="Georgia" pitchFamily="34" charset="-122"/>
                <a:cs typeface="Georgia" pitchFamily="34" charset="-120"/>
              </a:rPr>
              <a:t>Column-oriented</a:t>
            </a:r>
            <a:r>
              <a:rPr lang="sr-Latn-RS" dirty="0">
                <a:solidFill>
                  <a:srgbClr val="1B2A4A"/>
                </a:solidFill>
                <a:ea typeface="Georgia" pitchFamily="34" charset="-122"/>
                <a:cs typeface="Georgia" pitchFamily="34" charset="-120"/>
              </a:rPr>
              <a:t> model</a:t>
            </a:r>
            <a:endParaRPr lang="en-US" dirty="0"/>
          </a:p>
        </p:txBody>
      </p:sp>
      <p:sp>
        <p:nvSpPr>
          <p:cNvPr id="63" name="Slide Number Placeholder 62">
            <a:extLst>
              <a:ext uri="{FF2B5EF4-FFF2-40B4-BE49-F238E27FC236}">
                <a16:creationId xmlns:a16="http://schemas.microsoft.com/office/drawing/2014/main" id="{257B8291-A76B-395D-8334-9AE79FC2DE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10312"/>
            <a:ext cx="2743200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6</a:t>
            </a:fld>
            <a:endParaRPr lang="en-US" dirty="0"/>
          </a:p>
        </p:txBody>
      </p:sp>
      <p:graphicFrame>
        <p:nvGraphicFramePr>
          <p:cNvPr id="53" name="Table 52">
            <a:extLst>
              <a:ext uri="{FF2B5EF4-FFF2-40B4-BE49-F238E27FC236}">
                <a16:creationId xmlns:a16="http://schemas.microsoft.com/office/drawing/2014/main" id="{1A2E6287-719D-C996-206E-87CD02E265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5001351"/>
              </p:ext>
            </p:extLst>
          </p:nvPr>
        </p:nvGraphicFramePr>
        <p:xfrm>
          <a:off x="1264429" y="1815526"/>
          <a:ext cx="8130294" cy="2392935"/>
        </p:xfrm>
        <a:graphic>
          <a:graphicData uri="http://schemas.openxmlformats.org/drawingml/2006/table">
            <a:tbl>
              <a:tblPr firstRow="1" bandRow="1">
                <a:tableStyleId>{68D230F3-CF80-4859-8CE7-A43EE81993B5}</a:tableStyleId>
              </a:tblPr>
              <a:tblGrid>
                <a:gridCol w="2345732">
                  <a:extLst>
                    <a:ext uri="{9D8B030D-6E8A-4147-A177-3AD203B41FA5}">
                      <a16:colId xmlns:a16="http://schemas.microsoft.com/office/drawing/2014/main" val="3020584605"/>
                    </a:ext>
                  </a:extLst>
                </a:gridCol>
                <a:gridCol w="5784562">
                  <a:extLst>
                    <a:ext uri="{9D8B030D-6E8A-4147-A177-3AD203B41FA5}">
                      <a16:colId xmlns:a16="http://schemas.microsoft.com/office/drawing/2014/main" val="3078307069"/>
                    </a:ext>
                  </a:extLst>
                </a:gridCol>
              </a:tblGrid>
              <a:tr h="478587">
                <a:tc>
                  <a:txBody>
                    <a:bodyPr/>
                    <a:lstStyle/>
                    <a:p>
                      <a:r>
                        <a:rPr lang="sr-Latn-RS" dirty="0"/>
                        <a:t>Kolona</a:t>
                      </a:r>
                      <a:endParaRPr 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sr-Latn-RS" b="1" dirty="0"/>
                        <a:t>Vrednost</a:t>
                      </a:r>
                      <a:endParaRPr lang="en-US" b="1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5678154"/>
                  </a:ext>
                </a:extLst>
              </a:tr>
              <a:tr h="478587">
                <a:tc>
                  <a:txBody>
                    <a:bodyPr/>
                    <a:lstStyle/>
                    <a:p>
                      <a:r>
                        <a:rPr lang="sr-Latn-RS" dirty="0"/>
                        <a:t>id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r-Latn-RS" b="0" dirty="0"/>
                        <a:t>1,2,3, ...</a:t>
                      </a:r>
                      <a:endParaRPr lang="en-US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5731071"/>
                  </a:ext>
                </a:extLst>
              </a:tr>
              <a:tr h="478587">
                <a:tc>
                  <a:txBody>
                    <a:bodyPr/>
                    <a:lstStyle/>
                    <a:p>
                      <a:r>
                        <a:rPr lang="sr-Latn-RS" b="1" dirty="0"/>
                        <a:t>ime</a:t>
                      </a:r>
                      <a:endParaRPr lang="en-US" b="1" dirty="0"/>
                    </a:p>
                  </a:txBody>
                  <a:tcP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sr-Latn-RS" dirty="0"/>
                        <a:t>Marko, Ana, Petar, ...</a:t>
                      </a:r>
                      <a:endParaRPr lang="en-US" dirty="0"/>
                    </a:p>
                  </a:txBody>
                  <a:tcPr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9723058"/>
                  </a:ext>
                </a:extLst>
              </a:tr>
              <a:tr h="478587">
                <a:tc>
                  <a:txBody>
                    <a:bodyPr/>
                    <a:lstStyle/>
                    <a:p>
                      <a:r>
                        <a:rPr lang="sr-Latn-RS" b="1" dirty="0"/>
                        <a:t>grad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r-Latn-RS" dirty="0"/>
                        <a:t>Beograd, Niš, Novi Sad, ...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5235418"/>
                  </a:ext>
                </a:extLst>
              </a:tr>
              <a:tr h="478587">
                <a:tc>
                  <a:txBody>
                    <a:bodyPr/>
                    <a:lstStyle/>
                    <a:p>
                      <a:r>
                        <a:rPr lang="sr-Latn-RS" b="1" dirty="0"/>
                        <a:t>cena</a:t>
                      </a:r>
                      <a:endParaRPr lang="en-US" b="1" dirty="0"/>
                    </a:p>
                  </a:txBody>
                  <a:tcP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sr-Latn-RS" dirty="0"/>
                        <a:t>85000, 45000, 30000, ...</a:t>
                      </a:r>
                      <a:endParaRPr lang="en-US" dirty="0"/>
                    </a:p>
                  </a:txBody>
                  <a:tcPr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9830406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3AD800C9-6831-9166-2CA2-0685083A2D6C}"/>
              </a:ext>
            </a:extLst>
          </p:cNvPr>
          <p:cNvSpPr txBox="1"/>
          <p:nvPr/>
        </p:nvSpPr>
        <p:spPr>
          <a:xfrm>
            <a:off x="1264429" y="1280750"/>
            <a:ext cx="60984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i="1" dirty="0" err="1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Vrednosti</a:t>
            </a:r>
            <a:r>
              <a:rPr lang="en-US" sz="1800" i="1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i="1" dirty="0" err="1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iste</a:t>
            </a:r>
            <a:r>
              <a:rPr lang="en-US" sz="1800" i="1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i="1" dirty="0" err="1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kolone</a:t>
            </a:r>
            <a:r>
              <a:rPr lang="en-US" sz="1800" i="1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i="1" dirty="0" err="1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čuvaju</a:t>
            </a:r>
            <a:r>
              <a:rPr lang="en-US" sz="1800" i="1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 se </a:t>
            </a:r>
            <a:r>
              <a:rPr lang="en-US" sz="1800" i="1" dirty="0" err="1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zajedno</a:t>
            </a:r>
            <a:r>
              <a:rPr lang="en-US" sz="1800" i="1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.</a:t>
            </a:r>
            <a:endParaRPr lang="en-US" sz="18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B767F02-1960-5BEB-6356-0B8E157EECE6}"/>
              </a:ext>
            </a:extLst>
          </p:cNvPr>
          <p:cNvSpPr txBox="1"/>
          <p:nvPr/>
        </p:nvSpPr>
        <p:spPr>
          <a:xfrm>
            <a:off x="1264429" y="4280312"/>
            <a:ext cx="813029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chemeClr val="accent6">
                    <a:lumMod val="7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SUM(price)  →  </a:t>
            </a:r>
            <a:r>
              <a:rPr lang="en-US" sz="1800" dirty="0" err="1">
                <a:solidFill>
                  <a:schemeClr val="accent6">
                    <a:lumMod val="7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čita</a:t>
            </a:r>
            <a:r>
              <a:rPr lang="en-US" sz="1800" dirty="0">
                <a:solidFill>
                  <a:schemeClr val="accent6">
                    <a:lumMod val="7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 err="1">
                <a:solidFill>
                  <a:schemeClr val="accent6">
                    <a:lumMod val="7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samo</a:t>
            </a:r>
            <a:r>
              <a:rPr lang="en-US" sz="1800" dirty="0">
                <a:solidFill>
                  <a:schemeClr val="accent6">
                    <a:lumMod val="7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85000, 45000, 30000, ...  ←  </a:t>
            </a:r>
            <a:r>
              <a:rPr lang="en-US" sz="1800" dirty="0" err="1">
                <a:solidFill>
                  <a:schemeClr val="accent6">
                    <a:lumMod val="7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ostale</a:t>
            </a:r>
            <a:r>
              <a:rPr lang="en-US" sz="1800" dirty="0">
                <a:solidFill>
                  <a:schemeClr val="accent6">
                    <a:lumMod val="7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 err="1">
                <a:solidFill>
                  <a:schemeClr val="accent6">
                    <a:lumMod val="7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kolone</a:t>
            </a:r>
            <a:r>
              <a:rPr lang="en-US" sz="1800" dirty="0">
                <a:solidFill>
                  <a:schemeClr val="accent6">
                    <a:lumMod val="7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se ne </a:t>
            </a:r>
            <a:r>
              <a:rPr lang="en-US" sz="1800" dirty="0" err="1">
                <a:solidFill>
                  <a:schemeClr val="accent6">
                    <a:lumMod val="7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diraju</a:t>
            </a:r>
            <a:endParaRPr lang="en-US" sz="18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25D6A81-EF3D-444E-F8AD-47329F62A535}"/>
              </a:ext>
            </a:extLst>
          </p:cNvPr>
          <p:cNvSpPr txBox="1"/>
          <p:nvPr/>
        </p:nvSpPr>
        <p:spPr>
          <a:xfrm>
            <a:off x="1264429" y="4926643"/>
            <a:ext cx="8233532" cy="1856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Aft>
                <a:spcPts val="400"/>
              </a:spcAft>
              <a:buNone/>
            </a:pPr>
            <a:r>
              <a:rPr lang="en-US" sz="180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Za </a:t>
            </a:r>
            <a:r>
              <a:rPr lang="en-US" sz="1800" dirty="0" err="1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agregacije</a:t>
            </a:r>
            <a:r>
              <a:rPr lang="en-US" sz="180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 (SUM, AVG, COUNT) </a:t>
            </a:r>
            <a:r>
              <a:rPr lang="en-US" sz="1800" dirty="0" err="1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nad</a:t>
            </a:r>
            <a:r>
              <a:rPr lang="en-US" sz="180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dirty="0" err="1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velikim</a:t>
            </a:r>
            <a:r>
              <a:rPr lang="en-US" sz="180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dirty="0" err="1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brojem</a:t>
            </a:r>
            <a:r>
              <a:rPr lang="en-US" sz="180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dirty="0" err="1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redova</a:t>
            </a:r>
            <a:r>
              <a:rPr lang="en-US" sz="180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, </a:t>
            </a:r>
            <a:r>
              <a:rPr lang="en-US" sz="1800" dirty="0" err="1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ovo</a:t>
            </a:r>
            <a:r>
              <a:rPr lang="en-US" sz="180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 je </a:t>
            </a:r>
            <a:r>
              <a:rPr lang="en-US" sz="1800" dirty="0" err="1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mnogo</a:t>
            </a:r>
            <a:r>
              <a:rPr lang="en-US" sz="180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dirty="0" err="1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efikasnije</a:t>
            </a:r>
            <a:r>
              <a:rPr lang="en-US" sz="180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 — </a:t>
            </a:r>
            <a:r>
              <a:rPr lang="en-US" sz="1800" dirty="0" err="1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čitamo</a:t>
            </a:r>
            <a:r>
              <a:rPr lang="en-US" sz="180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dirty="0" err="1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samo</a:t>
            </a:r>
            <a:r>
              <a:rPr lang="en-US" sz="180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 ono </a:t>
            </a:r>
            <a:r>
              <a:rPr lang="en-US" sz="1800" dirty="0" err="1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što</a:t>
            </a:r>
            <a:r>
              <a:rPr lang="en-US" sz="180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dirty="0" err="1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nam</a:t>
            </a:r>
            <a:r>
              <a:rPr lang="en-US" sz="180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dirty="0" err="1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treba</a:t>
            </a:r>
            <a:r>
              <a:rPr lang="en-US" sz="180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.</a:t>
            </a:r>
            <a:endParaRPr lang="en-US" sz="1800" dirty="0"/>
          </a:p>
          <a:p>
            <a:pPr marL="0" indent="0">
              <a:spcAft>
                <a:spcPts val="400"/>
              </a:spcAft>
              <a:buNone/>
            </a:pPr>
            <a:endParaRPr lang="en-US" sz="18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Problem: </a:t>
            </a:r>
            <a:r>
              <a:rPr lang="en-US" sz="180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Kada </a:t>
            </a:r>
            <a:r>
              <a:rPr lang="en-US" sz="1800" dirty="0" err="1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treba</a:t>
            </a:r>
            <a:r>
              <a:rPr lang="en-US" sz="180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 da </a:t>
            </a:r>
            <a:r>
              <a:rPr lang="en-US" sz="1800" dirty="0" err="1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prikažemo</a:t>
            </a:r>
            <a:r>
              <a:rPr lang="en-US" sz="180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dirty="0" err="1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sve</a:t>
            </a:r>
            <a:r>
              <a:rPr lang="en-US" sz="180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dirty="0" err="1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podatke</a:t>
            </a:r>
            <a:r>
              <a:rPr lang="en-US" sz="180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dirty="0" err="1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jednog</a:t>
            </a:r>
            <a:r>
              <a:rPr lang="en-US" sz="180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dirty="0" err="1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korisnika</a:t>
            </a:r>
            <a:r>
              <a:rPr lang="en-US" sz="180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, </a:t>
            </a:r>
            <a:r>
              <a:rPr lang="en-US" sz="1800" dirty="0" err="1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sistem</a:t>
            </a:r>
            <a:r>
              <a:rPr lang="en-US" sz="180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 mora da </a:t>
            </a:r>
            <a:r>
              <a:rPr lang="en-US" sz="1800" dirty="0" err="1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sakupi</a:t>
            </a:r>
            <a:r>
              <a:rPr lang="en-US" sz="180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dirty="0" err="1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vrednosti</a:t>
            </a:r>
            <a:r>
              <a:rPr lang="en-US" sz="180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dirty="0" err="1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iz</a:t>
            </a:r>
            <a:r>
              <a:rPr lang="en-US" sz="180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dirty="0" err="1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više</a:t>
            </a:r>
            <a:r>
              <a:rPr lang="en-US" sz="180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dirty="0" err="1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segmenata</a:t>
            </a:r>
            <a:r>
              <a:rPr lang="en-US" sz="180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dirty="0" err="1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i</a:t>
            </a:r>
            <a:r>
              <a:rPr lang="en-US" sz="180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dirty="0" err="1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sastavi</a:t>
            </a:r>
            <a:r>
              <a:rPr lang="en-US" sz="180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 red — </a:t>
            </a:r>
            <a:r>
              <a:rPr lang="en-US" sz="1800" dirty="0" err="1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sporije</a:t>
            </a:r>
            <a:r>
              <a:rPr lang="en-US" sz="180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dirty="0" err="1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nego</a:t>
            </a:r>
            <a:r>
              <a:rPr lang="en-US" sz="180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dirty="0" err="1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kod</a:t>
            </a:r>
            <a:r>
              <a:rPr lang="en-US" sz="180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 row-oriented </a:t>
            </a:r>
            <a:r>
              <a:rPr lang="en-US" sz="1800" dirty="0" err="1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pristupa</a:t>
            </a:r>
            <a:r>
              <a:rPr lang="en-US" sz="180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.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0857464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8B436C-5615-16AF-D31B-C55300C212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3969" y="-224158"/>
            <a:ext cx="5684520" cy="1305562"/>
          </a:xfrm>
        </p:spPr>
        <p:txBody>
          <a:bodyPr/>
          <a:lstStyle/>
          <a:p>
            <a:pPr algn="l"/>
            <a:r>
              <a:rPr lang="sr-Latn-RS" dirty="0"/>
              <a:t>PostgreSQL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667A5F-3B76-F018-FA53-FF8B5D2F07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968" y="1502228"/>
            <a:ext cx="10679103" cy="5017444"/>
          </a:xfrm>
        </p:spPr>
        <p:txBody>
          <a:bodyPr>
            <a:noAutofit/>
          </a:bodyPr>
          <a:lstStyle/>
          <a:p>
            <a:pPr algn="l">
              <a:spcAft>
                <a:spcPts val="400"/>
              </a:spcAft>
            </a:pPr>
            <a:r>
              <a:rPr lang="en-US" sz="1800" b="1" dirty="0" err="1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Objektno-relacioni</a:t>
            </a:r>
            <a:r>
              <a:rPr lang="en-US" sz="1800" b="1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 DBMS, </a:t>
            </a:r>
            <a:r>
              <a:rPr lang="en-US" sz="1800" b="1" dirty="0" err="1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koristi</a:t>
            </a:r>
            <a:r>
              <a:rPr lang="en-US" sz="1800" b="1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 row-oriented </a:t>
            </a:r>
            <a:r>
              <a:rPr lang="en-US" sz="1800" b="1" dirty="0" err="1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organizaciju</a:t>
            </a:r>
            <a:r>
              <a:rPr lang="en-US" sz="1800" b="1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b="1" dirty="0" err="1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podataka</a:t>
            </a:r>
            <a:r>
              <a:rPr lang="en-US" sz="1800" b="1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.</a:t>
            </a:r>
            <a:endParaRPr lang="en-US" sz="1800" dirty="0"/>
          </a:p>
          <a:p>
            <a:pPr algn="l">
              <a:spcAft>
                <a:spcPts val="400"/>
              </a:spcAft>
            </a:pPr>
            <a:endParaRPr lang="en-US" sz="1800" dirty="0"/>
          </a:p>
          <a:p>
            <a:pPr marL="342900" indent="-342900" algn="l">
              <a:lnSpc>
                <a:spcPct val="150000"/>
              </a:lnSpc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Podatke </a:t>
            </a:r>
            <a:r>
              <a:rPr lang="en-US" sz="1800" dirty="0" err="1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čuva</a:t>
            </a:r>
            <a:r>
              <a:rPr lang="en-US" sz="180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 u </a:t>
            </a:r>
            <a:r>
              <a:rPr lang="en-US" sz="1800" dirty="0" err="1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stranicama</a:t>
            </a:r>
            <a:r>
              <a:rPr lang="en-US" sz="180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dirty="0" err="1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fiksne</a:t>
            </a:r>
            <a:r>
              <a:rPr lang="en-US" sz="180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dirty="0" err="1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veličine</a:t>
            </a:r>
            <a:r>
              <a:rPr lang="en-US" sz="180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 od 8 KB — </a:t>
            </a:r>
            <a:r>
              <a:rPr lang="en-US" sz="1800" dirty="0" err="1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svi</a:t>
            </a:r>
            <a:r>
              <a:rPr lang="en-US" sz="180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dirty="0" err="1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podaci</a:t>
            </a:r>
            <a:r>
              <a:rPr lang="en-US" sz="180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dirty="0" err="1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jednog</a:t>
            </a:r>
            <a:r>
              <a:rPr lang="en-US" sz="180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dirty="0" err="1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reda</a:t>
            </a:r>
            <a:r>
              <a:rPr lang="en-US" sz="180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dirty="0" err="1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su</a:t>
            </a:r>
            <a:r>
              <a:rPr lang="en-US" sz="180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dirty="0" err="1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na</a:t>
            </a:r>
            <a:r>
              <a:rPr lang="en-US" sz="180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dirty="0" err="1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istoj</a:t>
            </a:r>
            <a:r>
              <a:rPr lang="en-US" sz="180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dirty="0" err="1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stranici</a:t>
            </a:r>
            <a:endParaRPr lang="en-US" sz="1800" dirty="0"/>
          </a:p>
          <a:p>
            <a:pPr marL="342900" indent="-342900" algn="l">
              <a:lnSpc>
                <a:spcPct val="150000"/>
              </a:lnSpc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Index Scan — </a:t>
            </a:r>
            <a:r>
              <a:rPr lang="en-US" sz="1800" dirty="0" err="1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koristi</a:t>
            </a:r>
            <a:r>
              <a:rPr lang="en-US" sz="180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dirty="0" err="1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indeks</a:t>
            </a:r>
            <a:r>
              <a:rPr lang="en-US" sz="180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dirty="0" err="1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primarnog</a:t>
            </a:r>
            <a:r>
              <a:rPr lang="en-US" sz="180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dirty="0" err="1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ključa</a:t>
            </a:r>
            <a:r>
              <a:rPr lang="en-US" sz="180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 za </a:t>
            </a:r>
            <a:r>
              <a:rPr lang="en-US" sz="1800" dirty="0" err="1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direktan</a:t>
            </a:r>
            <a:r>
              <a:rPr lang="en-US" sz="180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dirty="0" err="1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pristup</a:t>
            </a:r>
            <a:r>
              <a:rPr lang="en-US" sz="180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dirty="0" err="1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redu</a:t>
            </a:r>
            <a:r>
              <a:rPr lang="en-US" sz="180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, bez </a:t>
            </a:r>
            <a:r>
              <a:rPr lang="en-US" sz="1800" dirty="0" err="1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prolaska</a:t>
            </a:r>
            <a:r>
              <a:rPr lang="en-US" sz="180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dirty="0" err="1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kroz</a:t>
            </a:r>
            <a:r>
              <a:rPr lang="en-US" sz="180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dirty="0" err="1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celu</a:t>
            </a:r>
            <a:r>
              <a:rPr lang="en-US" sz="180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dirty="0" err="1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tabelu</a:t>
            </a:r>
            <a:endParaRPr lang="en-US" sz="1800" dirty="0"/>
          </a:p>
          <a:p>
            <a:pPr marL="342900" indent="-342900" algn="l">
              <a:lnSpc>
                <a:spcPct val="150000"/>
              </a:lnSpc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MVCC </a:t>
            </a:r>
            <a:r>
              <a:rPr lang="en-US" sz="1800" dirty="0" err="1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mehanizam</a:t>
            </a:r>
            <a:r>
              <a:rPr lang="en-US" sz="180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 — </a:t>
            </a:r>
            <a:r>
              <a:rPr lang="en-US" sz="1800" dirty="0" err="1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čitanje</a:t>
            </a:r>
            <a:r>
              <a:rPr lang="en-US" sz="180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 ne </a:t>
            </a:r>
            <a:r>
              <a:rPr lang="en-US" sz="1800" dirty="0" err="1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blokira</a:t>
            </a:r>
            <a:r>
              <a:rPr lang="en-US" sz="180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dirty="0" err="1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pisanje</a:t>
            </a:r>
            <a:r>
              <a:rPr lang="en-US" sz="180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dirty="0" err="1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i</a:t>
            </a:r>
            <a:r>
              <a:rPr lang="en-US" sz="180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dirty="0" err="1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obrnuto</a:t>
            </a:r>
            <a:r>
              <a:rPr lang="en-US" sz="180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, </a:t>
            </a:r>
            <a:r>
              <a:rPr lang="en-US" sz="1800" dirty="0" err="1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što</a:t>
            </a:r>
            <a:r>
              <a:rPr lang="en-US" sz="180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dirty="0" err="1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omogućava</a:t>
            </a:r>
            <a:r>
              <a:rPr lang="en-US" sz="180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dirty="0" err="1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istovremeni</a:t>
            </a:r>
            <a:r>
              <a:rPr lang="en-US" sz="180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 rad </a:t>
            </a:r>
            <a:r>
              <a:rPr lang="en-US" sz="1800" dirty="0" err="1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više</a:t>
            </a:r>
            <a:r>
              <a:rPr lang="en-US" sz="180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dirty="0" err="1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korisnika</a:t>
            </a:r>
            <a:endParaRPr lang="en-US" sz="1800" dirty="0"/>
          </a:p>
          <a:p>
            <a:pPr marL="342900" indent="-342900" algn="l">
              <a:lnSpc>
                <a:spcPct val="150000"/>
              </a:lnSpc>
              <a:spcAft>
                <a:spcPts val="400"/>
              </a:spcAft>
              <a:buSzPct val="100000"/>
              <a:buChar char="•"/>
            </a:pPr>
            <a:r>
              <a:rPr lang="en-US" sz="1800" dirty="0" err="1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Namenjen</a:t>
            </a:r>
            <a:r>
              <a:rPr lang="en-US" sz="180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 za OLTP: </a:t>
            </a:r>
            <a:r>
              <a:rPr lang="en-US" sz="1800" dirty="0" err="1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čitanje</a:t>
            </a:r>
            <a:r>
              <a:rPr lang="en-US" sz="180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, </a:t>
            </a:r>
            <a:r>
              <a:rPr lang="en-US" sz="1800" dirty="0" err="1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unos</a:t>
            </a:r>
            <a:r>
              <a:rPr lang="en-US" sz="180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, </a:t>
            </a:r>
            <a:r>
              <a:rPr lang="en-US" sz="1800" dirty="0" err="1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izmena</a:t>
            </a:r>
            <a:r>
              <a:rPr lang="en-US" sz="180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dirty="0" err="1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i</a:t>
            </a:r>
            <a:r>
              <a:rPr lang="en-US" sz="180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dirty="0" err="1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brisanje</a:t>
            </a:r>
            <a:r>
              <a:rPr lang="en-US" sz="180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dirty="0" err="1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pojedinačnih</a:t>
            </a:r>
            <a:r>
              <a:rPr lang="en-US" sz="180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dirty="0" err="1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zapisa</a:t>
            </a:r>
            <a:endParaRPr lang="en-US" sz="1800" dirty="0"/>
          </a:p>
          <a:p>
            <a:pPr marL="342900" indent="-342900" algn="l">
              <a:lnSpc>
                <a:spcPct val="150000"/>
              </a:lnSpc>
              <a:spcAft>
                <a:spcPts val="400"/>
              </a:spcAft>
              <a:buSzPct val="100000"/>
              <a:buChar char="•"/>
            </a:pPr>
            <a:r>
              <a:rPr lang="en-US" sz="1800" dirty="0" err="1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Primena</a:t>
            </a:r>
            <a:r>
              <a:rPr lang="en-US" sz="180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: web </a:t>
            </a:r>
            <a:r>
              <a:rPr lang="en-US" sz="1800" dirty="0" err="1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aplikacije</a:t>
            </a:r>
            <a:r>
              <a:rPr lang="en-US" sz="180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, </a:t>
            </a:r>
            <a:r>
              <a:rPr lang="en-US" sz="1800" dirty="0" err="1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poslovni</a:t>
            </a:r>
            <a:r>
              <a:rPr lang="en-US" sz="180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dirty="0" err="1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sistemi</a:t>
            </a:r>
            <a:r>
              <a:rPr lang="en-US" sz="180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, </a:t>
            </a:r>
            <a:r>
              <a:rPr lang="en-US" sz="1800" dirty="0" err="1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banke</a:t>
            </a:r>
            <a:r>
              <a:rPr lang="en-US" sz="180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, </a:t>
            </a:r>
            <a:r>
              <a:rPr lang="en-US" sz="1800" dirty="0" err="1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rezervacioni</a:t>
            </a:r>
            <a:r>
              <a:rPr lang="en-US" sz="180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dirty="0" err="1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sistemi</a:t>
            </a:r>
            <a:endParaRPr lang="en-US" sz="18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FE6148-1D15-E049-FB7C-4B61023B99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40878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8AAE0F-3E39-7035-773F-34ED20978B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652" y="116290"/>
            <a:ext cx="5684520" cy="1014099"/>
          </a:xfrm>
        </p:spPr>
        <p:txBody>
          <a:bodyPr/>
          <a:lstStyle/>
          <a:p>
            <a:pPr algn="l"/>
            <a:r>
              <a:rPr lang="sr-Latn-RS" dirty="0"/>
              <a:t>DuckDB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FA29A7-FBDB-B885-D9EC-3500C8373D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3651" y="1371280"/>
            <a:ext cx="10974619" cy="4709480"/>
          </a:xfrm>
        </p:spPr>
        <p:txBody>
          <a:bodyPr>
            <a:normAutofit/>
          </a:bodyPr>
          <a:lstStyle/>
          <a:p>
            <a:pPr algn="l">
              <a:spcAft>
                <a:spcPts val="400"/>
              </a:spcAft>
            </a:pPr>
            <a:r>
              <a:rPr lang="en-US" sz="1800" b="1" dirty="0" err="1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Relacioni</a:t>
            </a:r>
            <a:r>
              <a:rPr lang="en-US" sz="1800" b="1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b="1" dirty="0" err="1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analitički</a:t>
            </a:r>
            <a:r>
              <a:rPr lang="en-US" sz="1800" b="1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 DBMS, </a:t>
            </a:r>
            <a:r>
              <a:rPr lang="en-US" sz="1800" b="1" dirty="0" err="1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koristi</a:t>
            </a:r>
            <a:r>
              <a:rPr lang="en-US" sz="1800" b="1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 column-oriented </a:t>
            </a:r>
            <a:r>
              <a:rPr lang="en-US" sz="1800" b="1" dirty="0" err="1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organizaciju</a:t>
            </a:r>
            <a:r>
              <a:rPr lang="en-US" sz="1800" b="1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b="1" dirty="0" err="1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podataka</a:t>
            </a:r>
            <a:r>
              <a:rPr lang="en-US" sz="1800" b="1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.</a:t>
            </a:r>
            <a:endParaRPr lang="en-US" sz="1800" dirty="0"/>
          </a:p>
          <a:p>
            <a:pPr algn="l">
              <a:spcAft>
                <a:spcPts val="400"/>
              </a:spcAft>
            </a:pPr>
            <a:endParaRPr lang="en-US" sz="1800" dirty="0"/>
          </a:p>
          <a:p>
            <a:pPr marL="342900" indent="-342900" algn="l">
              <a:lnSpc>
                <a:spcPct val="150000"/>
              </a:lnSpc>
              <a:spcAft>
                <a:spcPts val="400"/>
              </a:spcAft>
              <a:buSzPct val="100000"/>
              <a:buChar char="•"/>
            </a:pPr>
            <a:r>
              <a:rPr lang="en-US" sz="1800" dirty="0" err="1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Vrednosti</a:t>
            </a:r>
            <a:r>
              <a:rPr lang="en-US" sz="180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dirty="0" err="1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iste</a:t>
            </a:r>
            <a:r>
              <a:rPr lang="en-US" sz="180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dirty="0" err="1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kolone</a:t>
            </a:r>
            <a:r>
              <a:rPr lang="en-US" sz="180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dirty="0" err="1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čuva</a:t>
            </a:r>
            <a:r>
              <a:rPr lang="en-US" sz="180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dirty="0" err="1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zajedno</a:t>
            </a:r>
            <a:r>
              <a:rPr lang="en-US" sz="180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 — za SUM(price) </a:t>
            </a:r>
            <a:r>
              <a:rPr lang="en-US" sz="1800" dirty="0" err="1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čita</a:t>
            </a:r>
            <a:r>
              <a:rPr lang="en-US" sz="180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dirty="0" err="1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samo</a:t>
            </a:r>
            <a:r>
              <a:rPr lang="en-US" sz="180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dirty="0" err="1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kolonu</a:t>
            </a:r>
            <a:r>
              <a:rPr lang="en-US" sz="180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 price, </a:t>
            </a:r>
            <a:r>
              <a:rPr lang="en-US" sz="1800" dirty="0" err="1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ostale</a:t>
            </a:r>
            <a:r>
              <a:rPr lang="en-US" sz="180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dirty="0" err="1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ignoriše</a:t>
            </a:r>
            <a:endParaRPr lang="en-US" sz="1800" dirty="0"/>
          </a:p>
          <a:p>
            <a:pPr marL="342900" indent="-342900" algn="l">
              <a:lnSpc>
                <a:spcPct val="150000"/>
              </a:lnSpc>
              <a:spcAft>
                <a:spcPts val="400"/>
              </a:spcAft>
              <a:buSzPct val="100000"/>
              <a:buChar char="•"/>
            </a:pPr>
            <a:r>
              <a:rPr lang="en-US" sz="1800" dirty="0" err="1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Vektorizovano</a:t>
            </a:r>
            <a:r>
              <a:rPr lang="en-US" sz="180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dirty="0" err="1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izvršavanje</a:t>
            </a:r>
            <a:r>
              <a:rPr lang="en-US" sz="180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 — </a:t>
            </a:r>
            <a:r>
              <a:rPr lang="en-US" sz="1800" dirty="0" err="1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obrađuje</a:t>
            </a:r>
            <a:r>
              <a:rPr lang="en-US" sz="180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dirty="0" err="1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podatke</a:t>
            </a:r>
            <a:r>
              <a:rPr lang="en-US" sz="180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 u </a:t>
            </a:r>
            <a:r>
              <a:rPr lang="en-US" sz="1800" dirty="0" err="1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blokovima</a:t>
            </a:r>
            <a:r>
              <a:rPr lang="en-US" sz="180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 od 2048 </a:t>
            </a:r>
            <a:r>
              <a:rPr lang="en-US" sz="1800" dirty="0" err="1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vrednosti</a:t>
            </a:r>
            <a:r>
              <a:rPr lang="en-US" sz="180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, ne red po red</a:t>
            </a:r>
            <a:endParaRPr lang="en-US" sz="1800" dirty="0"/>
          </a:p>
          <a:p>
            <a:pPr marL="342900" indent="-342900" algn="l">
              <a:lnSpc>
                <a:spcPct val="150000"/>
              </a:lnSpc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Embedded — </a:t>
            </a:r>
            <a:r>
              <a:rPr lang="en-US" sz="1800" dirty="0" err="1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radi</a:t>
            </a:r>
            <a:r>
              <a:rPr lang="en-US" sz="180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 bez </a:t>
            </a:r>
            <a:r>
              <a:rPr lang="en-US" sz="1800" dirty="0" err="1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servera</a:t>
            </a:r>
            <a:r>
              <a:rPr lang="en-US" sz="180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, </a:t>
            </a:r>
            <a:r>
              <a:rPr lang="en-US" sz="1800" dirty="0" err="1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pokreće</a:t>
            </a:r>
            <a:r>
              <a:rPr lang="en-US" sz="180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 se </a:t>
            </a:r>
            <a:r>
              <a:rPr lang="en-US" sz="1800" dirty="0" err="1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direktno</a:t>
            </a:r>
            <a:r>
              <a:rPr lang="en-US" sz="180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dirty="0" err="1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iz</a:t>
            </a:r>
            <a:r>
              <a:rPr lang="en-US" sz="180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dirty="0" err="1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aplikacije</a:t>
            </a:r>
            <a:r>
              <a:rPr lang="en-US" sz="180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dirty="0" err="1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ili</a:t>
            </a:r>
            <a:r>
              <a:rPr lang="en-US" sz="180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 CLI-a</a:t>
            </a:r>
            <a:endParaRPr lang="en-US" sz="1800" dirty="0"/>
          </a:p>
          <a:p>
            <a:pPr marL="342900" indent="-342900" algn="l">
              <a:lnSpc>
                <a:spcPct val="150000"/>
              </a:lnSpc>
              <a:spcAft>
                <a:spcPts val="400"/>
              </a:spcAft>
              <a:buSzPct val="100000"/>
              <a:buChar char="•"/>
            </a:pPr>
            <a:r>
              <a:rPr lang="en-US" sz="1800" dirty="0" err="1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Može</a:t>
            </a:r>
            <a:r>
              <a:rPr lang="en-US" sz="180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dirty="0" err="1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direktno</a:t>
            </a:r>
            <a:r>
              <a:rPr lang="en-US" sz="180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 da </a:t>
            </a:r>
            <a:r>
              <a:rPr lang="en-US" sz="1800" dirty="0" err="1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čita</a:t>
            </a:r>
            <a:r>
              <a:rPr lang="en-US" sz="180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 CSV, Parquet </a:t>
            </a:r>
            <a:r>
              <a:rPr lang="en-US" sz="1800" dirty="0" err="1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i</a:t>
            </a:r>
            <a:r>
              <a:rPr lang="en-US" sz="180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 JSON </a:t>
            </a:r>
            <a:r>
              <a:rPr lang="en-US" sz="1800" dirty="0" err="1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fajlove</a:t>
            </a:r>
            <a:r>
              <a:rPr lang="en-US" sz="180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 bez </a:t>
            </a:r>
            <a:r>
              <a:rPr lang="en-US" sz="1800" dirty="0" err="1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prethodnog</a:t>
            </a:r>
            <a:r>
              <a:rPr lang="en-US" sz="180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dirty="0" err="1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importa</a:t>
            </a:r>
            <a:endParaRPr lang="en-US" sz="1800" dirty="0"/>
          </a:p>
          <a:p>
            <a:pPr marL="342900" indent="-342900" algn="l">
              <a:lnSpc>
                <a:spcPct val="150000"/>
              </a:lnSpc>
              <a:spcAft>
                <a:spcPts val="400"/>
              </a:spcAft>
              <a:buSzPct val="100000"/>
              <a:buChar char="•"/>
            </a:pPr>
            <a:r>
              <a:rPr lang="en-US" sz="1800" dirty="0" err="1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Namenjen</a:t>
            </a:r>
            <a:r>
              <a:rPr lang="en-US" sz="180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 za OLAP: </a:t>
            </a:r>
            <a:r>
              <a:rPr lang="en-US" sz="1800" dirty="0" err="1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agregacije</a:t>
            </a:r>
            <a:r>
              <a:rPr lang="en-US" sz="180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, </a:t>
            </a:r>
            <a:r>
              <a:rPr lang="en-US" sz="1800" dirty="0" err="1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grupisanja</a:t>
            </a:r>
            <a:r>
              <a:rPr lang="en-US" sz="180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, </a:t>
            </a:r>
            <a:r>
              <a:rPr lang="en-US" sz="1800" dirty="0" err="1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analitički</a:t>
            </a:r>
            <a:r>
              <a:rPr lang="en-US" sz="180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dirty="0" err="1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upiti</a:t>
            </a:r>
            <a:r>
              <a:rPr lang="en-US" sz="180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, </a:t>
            </a:r>
            <a:r>
              <a:rPr lang="en-US" sz="1800" dirty="0" err="1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izveštaji</a:t>
            </a:r>
            <a:endParaRPr lang="sr-Latn-RS" sz="1800" dirty="0">
              <a:solidFill>
                <a:srgbClr val="1E293B"/>
              </a:solidFill>
              <a:ea typeface="Calibri" pitchFamily="34" charset="-122"/>
              <a:cs typeface="Calibri" pitchFamily="34" charset="-120"/>
            </a:endParaRPr>
          </a:p>
          <a:p>
            <a:pPr marL="342900" indent="-342900" algn="l">
              <a:lnSpc>
                <a:spcPct val="150000"/>
              </a:lnSpc>
              <a:spcAft>
                <a:spcPts val="400"/>
              </a:spcAft>
              <a:buSzPct val="100000"/>
              <a:buChar char="•"/>
            </a:pPr>
            <a:r>
              <a:rPr lang="en-US" sz="1800" dirty="0" err="1">
                <a:solidFill>
                  <a:schemeClr val="tx1"/>
                </a:solidFill>
              </a:rPr>
              <a:t>Primena</a:t>
            </a:r>
            <a:r>
              <a:rPr lang="en-US" sz="1800" dirty="0">
                <a:solidFill>
                  <a:schemeClr val="tx1"/>
                </a:solidFill>
              </a:rPr>
              <a:t>: </a:t>
            </a:r>
            <a:r>
              <a:rPr lang="en-US" sz="1800" dirty="0" err="1">
                <a:solidFill>
                  <a:schemeClr val="tx1"/>
                </a:solidFill>
              </a:rPr>
              <a:t>poslovna</a:t>
            </a:r>
            <a:r>
              <a:rPr lang="en-US" sz="1800" dirty="0">
                <a:solidFill>
                  <a:schemeClr val="tx1"/>
                </a:solidFill>
              </a:rPr>
              <a:t> </a:t>
            </a:r>
            <a:r>
              <a:rPr lang="en-US" sz="1800" dirty="0" err="1">
                <a:solidFill>
                  <a:schemeClr val="tx1"/>
                </a:solidFill>
              </a:rPr>
              <a:t>analitika</a:t>
            </a:r>
            <a:r>
              <a:rPr lang="en-US" sz="1800" dirty="0">
                <a:solidFill>
                  <a:schemeClr val="tx1"/>
                </a:solidFill>
              </a:rPr>
              <a:t> </a:t>
            </a:r>
            <a:r>
              <a:rPr lang="en-US" sz="1800" dirty="0" err="1">
                <a:solidFill>
                  <a:schemeClr val="tx1"/>
                </a:solidFill>
              </a:rPr>
              <a:t>i</a:t>
            </a:r>
            <a:r>
              <a:rPr lang="en-US" sz="1800" dirty="0">
                <a:solidFill>
                  <a:schemeClr val="tx1"/>
                </a:solidFill>
              </a:rPr>
              <a:t> </a:t>
            </a:r>
            <a:r>
              <a:rPr lang="en-US" sz="1800" dirty="0" err="1">
                <a:solidFill>
                  <a:schemeClr val="tx1"/>
                </a:solidFill>
              </a:rPr>
              <a:t>izveštaji</a:t>
            </a:r>
            <a:r>
              <a:rPr lang="en-US" sz="1800" dirty="0">
                <a:solidFill>
                  <a:schemeClr val="tx1"/>
                </a:solidFill>
              </a:rPr>
              <a:t>, data science, ETL </a:t>
            </a:r>
            <a:r>
              <a:rPr lang="en-US" sz="1800" dirty="0" err="1">
                <a:solidFill>
                  <a:schemeClr val="tx1"/>
                </a:solidFill>
              </a:rPr>
              <a:t>procesi</a:t>
            </a:r>
            <a:r>
              <a:rPr lang="en-US" sz="1800" dirty="0">
                <a:solidFill>
                  <a:schemeClr val="tx1"/>
                </a:solidFill>
              </a:rPr>
              <a:t>, </a:t>
            </a:r>
            <a:r>
              <a:rPr lang="en-US" sz="1800" dirty="0" err="1">
                <a:solidFill>
                  <a:schemeClr val="tx1"/>
                </a:solidFill>
              </a:rPr>
              <a:t>lokalna</a:t>
            </a:r>
            <a:r>
              <a:rPr lang="en-US" sz="1800" dirty="0">
                <a:solidFill>
                  <a:schemeClr val="tx1"/>
                </a:solidFill>
              </a:rPr>
              <a:t> </a:t>
            </a:r>
            <a:r>
              <a:rPr lang="en-US" sz="1800" dirty="0" err="1">
                <a:solidFill>
                  <a:schemeClr val="tx1"/>
                </a:solidFill>
              </a:rPr>
              <a:t>obrada</a:t>
            </a:r>
            <a:r>
              <a:rPr lang="en-US" sz="1800" dirty="0">
                <a:solidFill>
                  <a:schemeClr val="tx1"/>
                </a:solidFill>
              </a:rPr>
              <a:t> CSV/Parquet </a:t>
            </a:r>
            <a:r>
              <a:rPr lang="en-US" sz="1800" dirty="0" err="1">
                <a:solidFill>
                  <a:schemeClr val="tx1"/>
                </a:solidFill>
              </a:rPr>
              <a:t>fajlova</a:t>
            </a:r>
            <a:endParaRPr lang="en-US" sz="1800" dirty="0">
              <a:solidFill>
                <a:schemeClr val="tx1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7ED8EA-D98F-3B1D-8290-B9BEFC036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74819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031FE9-9059-4FE8-B4AC-9771F23A1B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algn="l"/>
            <a:r>
              <a:rPr lang="sr-Latn-RS" dirty="0"/>
              <a:t>Testiranje</a:t>
            </a:r>
            <a:endParaRPr lang="en-US" dirty="0"/>
          </a:p>
        </p:txBody>
      </p:sp>
      <p:sp>
        <p:nvSpPr>
          <p:cNvPr id="115" name="Slide Number Placeholder 114">
            <a:extLst>
              <a:ext uri="{FF2B5EF4-FFF2-40B4-BE49-F238E27FC236}">
                <a16:creationId xmlns:a16="http://schemas.microsoft.com/office/drawing/2014/main" id="{47C21FD0-6144-422A-9727-F3249A6B55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ED59B6A-5204-9B84-B642-654E8D274BE6}"/>
              </a:ext>
            </a:extLst>
          </p:cNvPr>
          <p:cNvSpPr txBox="1"/>
          <p:nvPr/>
        </p:nvSpPr>
        <p:spPr>
          <a:xfrm>
            <a:off x="838200" y="2101023"/>
            <a:ext cx="60984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Ista tabela </a:t>
            </a:r>
            <a:r>
              <a:rPr lang="en-US" sz="1800" i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</a:t>
            </a:r>
            <a:r>
              <a:rPr lang="en-US" sz="18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sa 100.000 redova u oba sistema</a:t>
            </a:r>
            <a:endParaRPr lang="en-US" sz="18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3A383C9-A65D-F12A-B276-85C713553329}"/>
              </a:ext>
            </a:extLst>
          </p:cNvPr>
          <p:cNvSpPr txBox="1"/>
          <p:nvPr/>
        </p:nvSpPr>
        <p:spPr>
          <a:xfrm>
            <a:off x="838200" y="2655021"/>
            <a:ext cx="10665542" cy="23391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Isti SQL </a:t>
            </a:r>
            <a:r>
              <a:rPr lang="en-US" sz="18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upiti</a:t>
            </a: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izvršeni</a:t>
            </a: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 PostgreSQL-u </a:t>
            </a:r>
            <a:r>
              <a:rPr lang="en-US" sz="18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DuckDB</a:t>
            </a: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-u</a:t>
            </a:r>
            <a:endParaRPr lang="en-US" sz="1800" dirty="0"/>
          </a:p>
          <a:p>
            <a:pPr marL="0" indent="0">
              <a:spcAft>
                <a:spcPts val="400"/>
              </a:spcAft>
              <a:buNone/>
            </a:pP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8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Merenje</a:t>
            </a: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pomoću</a:t>
            </a: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EXPLAIN ANALYZE (Execution Time / Total Time)</a:t>
            </a:r>
            <a:endParaRPr lang="en-US" sz="1800" dirty="0"/>
          </a:p>
          <a:p>
            <a:pPr marL="0" indent="0">
              <a:spcAft>
                <a:spcPts val="400"/>
              </a:spcAft>
              <a:buNone/>
            </a:pP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</a:t>
            </a:r>
            <a:r>
              <a:rPr lang="en-US" sz="18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primera</a:t>
            </a: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3 OLTP </a:t>
            </a:r>
            <a:r>
              <a:rPr lang="en-US" sz="18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tipa</a:t>
            </a: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</a:t>
            </a:r>
            <a:r>
              <a:rPr lang="en-US" sz="18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čitanje</a:t>
            </a: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8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filtriranje</a:t>
            </a: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8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ažuriranje</a:t>
            </a: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</a:t>
            </a:r>
            <a:r>
              <a:rPr lang="en-US" sz="18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3 OLAP </a:t>
            </a:r>
            <a:r>
              <a:rPr lang="en-US" sz="18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tipa</a:t>
            </a: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</a:t>
            </a:r>
            <a:r>
              <a:rPr lang="en-US" sz="18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agregacija</a:t>
            </a: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8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grupisanje</a:t>
            </a: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8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složeni</a:t>
            </a: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upit</a:t>
            </a: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800" dirty="0"/>
          </a:p>
          <a:p>
            <a:pPr marL="0" indent="0">
              <a:spcAft>
                <a:spcPts val="400"/>
              </a:spcAft>
              <a:buNone/>
            </a:pP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Podaci </a:t>
            </a:r>
            <a:r>
              <a:rPr lang="en-US" sz="18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generisani</a:t>
            </a: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pomoću</a:t>
            </a: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generate_series</a:t>
            </a: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() u PostgreSQL-u </a:t>
            </a:r>
            <a:r>
              <a:rPr lang="en-US" sz="18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range() u </a:t>
            </a:r>
            <a:r>
              <a:rPr lang="en-US" sz="18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DuckDB</a:t>
            </a: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-u</a:t>
            </a:r>
            <a:endParaRPr lang="en-US" sz="18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BFD8583-AB78-34CD-EF43-6F8F84F18CA4}"/>
              </a:ext>
            </a:extLst>
          </p:cNvPr>
          <p:cNvSpPr txBox="1"/>
          <p:nvPr/>
        </p:nvSpPr>
        <p:spPr>
          <a:xfrm>
            <a:off x="838200" y="5121238"/>
            <a:ext cx="60984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b="1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Struktura</a:t>
            </a:r>
            <a:r>
              <a:rPr lang="en-US" sz="1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b="1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tabele</a:t>
            </a:r>
            <a:r>
              <a:rPr lang="en-US" sz="1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(8 </a:t>
            </a:r>
            <a:r>
              <a:rPr lang="en-US" sz="1800" b="1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kolona</a:t>
            </a:r>
            <a:r>
              <a:rPr lang="en-US" sz="1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):</a:t>
            </a:r>
            <a:endParaRPr lang="en-US" sz="18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A2E3519-9847-A83A-D434-1070DA2DEBE8}"/>
              </a:ext>
            </a:extLst>
          </p:cNvPr>
          <p:cNvSpPr txBox="1"/>
          <p:nvPr/>
        </p:nvSpPr>
        <p:spPr>
          <a:xfrm>
            <a:off x="838199" y="5490570"/>
            <a:ext cx="106655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chemeClr val="accent6">
                    <a:lumMod val="7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 | </a:t>
            </a:r>
            <a:r>
              <a:rPr lang="en-US" sz="1800" dirty="0" err="1">
                <a:solidFill>
                  <a:schemeClr val="accent6">
                    <a:lumMod val="7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customer_name</a:t>
            </a:r>
            <a:r>
              <a:rPr lang="en-US" sz="1800" dirty="0">
                <a:solidFill>
                  <a:schemeClr val="accent6">
                    <a:lumMod val="7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| city | </a:t>
            </a:r>
            <a:r>
              <a:rPr lang="en-US" sz="1800" dirty="0" err="1">
                <a:solidFill>
                  <a:schemeClr val="accent6">
                    <a:lumMod val="7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product_name</a:t>
            </a:r>
            <a:r>
              <a:rPr lang="en-US" sz="1800" dirty="0">
                <a:solidFill>
                  <a:schemeClr val="accent6">
                    <a:lumMod val="7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| category | quantity | price | </a:t>
            </a:r>
            <a:r>
              <a:rPr lang="en-US" sz="1800" dirty="0" err="1">
                <a:solidFill>
                  <a:schemeClr val="accent6">
                    <a:lumMod val="7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sale_date</a:t>
            </a:r>
            <a:endParaRPr lang="en-US" sz="1800" dirty="0">
              <a:solidFill>
                <a:schemeClr val="accent6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39208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F878AA-BC1F-4551-7A90-4AFFED0A4C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sr-Latn-RS" dirty="0"/>
              <a:t>Rezultati testiranja</a:t>
            </a:r>
            <a:endParaRPr lang="en-US" dirty="0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233264F3-A81E-D955-0BB6-4AE3713C51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10</a:t>
            </a:fld>
            <a:endParaRPr lang="en-US" dirty="0"/>
          </a:p>
        </p:txBody>
      </p:sp>
      <p:graphicFrame>
        <p:nvGraphicFramePr>
          <p:cNvPr id="18" name="Table 0">
            <a:extLst>
              <a:ext uri="{FF2B5EF4-FFF2-40B4-BE49-F238E27FC236}">
                <a16:creationId xmlns:a16="http://schemas.microsoft.com/office/drawing/2014/main" id="{1AA3FD16-50E7-F618-D0E5-D899554F78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9088898"/>
              </p:ext>
            </p:extLst>
          </p:nvPr>
        </p:nvGraphicFramePr>
        <p:xfrm>
          <a:off x="838200" y="1471231"/>
          <a:ext cx="9928122" cy="4429894"/>
        </p:xfrm>
        <a:graphic>
          <a:graphicData uri="http://schemas.openxmlformats.org/drawingml/2006/table">
            <a:tbl>
              <a:tblPr/>
              <a:tblGrid>
                <a:gridCol w="6337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573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898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8989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5731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3284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Br.</a:t>
                      </a:r>
                      <a:endParaRPr lang="en-US" sz="13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Tip upita</a:t>
                      </a:r>
                      <a:endParaRPr lang="en-US" sz="13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PostgreSQL</a:t>
                      </a:r>
                      <a:endParaRPr lang="en-US" sz="13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DuckDB</a:t>
                      </a:r>
                      <a:endParaRPr lang="en-US" sz="13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A8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Brži sistem</a:t>
                      </a:r>
                      <a:endParaRPr lang="en-US" sz="13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284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Čitanje jednog reda</a:t>
                      </a:r>
                      <a:endParaRPr lang="en-US" sz="13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6A34A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0.068 ms</a:t>
                      </a:r>
                      <a:endParaRPr lang="en-US" sz="13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1.0 ms</a:t>
                      </a:r>
                      <a:endParaRPr lang="en-US" sz="13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PostgreSQL (14x)</a:t>
                      </a:r>
                      <a:endParaRPr lang="en-US" sz="13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284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Filtriranje po gradu</a:t>
                      </a:r>
                      <a:endParaRPr lang="en-US" sz="13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6A34A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0.099 ms</a:t>
                      </a:r>
                      <a:endParaRPr lang="en-US" sz="13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3.1 ms</a:t>
                      </a:r>
                      <a:endParaRPr lang="en-US" sz="13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PostgreSQL (31x)</a:t>
                      </a:r>
                      <a:endParaRPr lang="en-US" sz="13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284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SUM(quantity)</a:t>
                      </a:r>
                      <a:endParaRPr lang="en-US" sz="13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14.090 ms</a:t>
                      </a:r>
                      <a:endParaRPr lang="en-US" sz="13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6A34A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2.7 ms</a:t>
                      </a:r>
                      <a:endParaRPr lang="en-US" sz="13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DuckDB (5x)</a:t>
                      </a:r>
                      <a:endParaRPr lang="en-US" sz="13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284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3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GROUP BY category</a:t>
                      </a:r>
                      <a:endParaRPr lang="en-US" sz="13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45.631 ms</a:t>
                      </a:r>
                      <a:endParaRPr lang="en-US" sz="13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6A34A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9.7 ms</a:t>
                      </a:r>
                      <a:endParaRPr lang="en-US" sz="13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DuckDB (4.7x)</a:t>
                      </a:r>
                      <a:endParaRPr lang="en-US" sz="13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3284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3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UPDATE jednog reda</a:t>
                      </a:r>
                      <a:endParaRPr lang="en-US" sz="13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6A34A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0.145 ms</a:t>
                      </a:r>
                      <a:endParaRPr lang="en-US" sz="13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1.3 ms</a:t>
                      </a:r>
                      <a:endParaRPr lang="en-US" sz="13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PostgreSQL (9x)</a:t>
                      </a:r>
                      <a:endParaRPr lang="en-US" sz="13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3284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3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Složeni analitički upit</a:t>
                      </a:r>
                      <a:endParaRPr lang="en-US" sz="13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87.574 ms</a:t>
                      </a:r>
                      <a:endParaRPr lang="en-US" sz="13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6A34A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20.4 ms</a:t>
                      </a:r>
                      <a:endParaRPr lang="en-US" sz="13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DuckDB (4.3x)</a:t>
                      </a:r>
                      <a:endParaRPr lang="en-US" sz="13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9" name="Text 1">
            <a:extLst>
              <a:ext uri="{FF2B5EF4-FFF2-40B4-BE49-F238E27FC236}">
                <a16:creationId xmlns:a16="http://schemas.microsoft.com/office/drawing/2014/main" id="{5E1B1E94-D260-4709-6D25-DF87599E3124}"/>
              </a:ext>
            </a:extLst>
          </p:cNvPr>
          <p:cNvSpPr/>
          <p:nvPr/>
        </p:nvSpPr>
        <p:spPr>
          <a:xfrm>
            <a:off x="1386840" y="599059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Primeri 1, 2, 5 → PostgreSQL brži (OLTP)          Primeri 3, 4, 6 → DuckDB brži (OLAP)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2014182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1D1D20-14B8-86DD-7E8A-5E326866FD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D4E659DD-784D-7DDC-4FEF-E971D653FB85}"/>
              </a:ext>
            </a:extLst>
          </p:cNvPr>
          <p:cNvSpPr txBox="1">
            <a:spLocks/>
          </p:cNvSpPr>
          <p:nvPr/>
        </p:nvSpPr>
        <p:spPr>
          <a:xfrm>
            <a:off x="2052115" y="184273"/>
            <a:ext cx="8087770" cy="80028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accent4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600" dirty="0" err="1">
                <a:solidFill>
                  <a:srgbClr val="1B2A4A"/>
                </a:solidFill>
                <a:latin typeface="+mn-lt"/>
                <a:ea typeface="Georgia" pitchFamily="34" charset="-122"/>
                <a:cs typeface="Georgia" pitchFamily="34" charset="-120"/>
              </a:rPr>
              <a:t>Poređenje</a:t>
            </a:r>
            <a:r>
              <a:rPr lang="en-US" sz="3600" dirty="0">
                <a:solidFill>
                  <a:srgbClr val="1B2A4A"/>
                </a:solidFill>
                <a:latin typeface="+mn-lt"/>
                <a:ea typeface="Georgia" pitchFamily="34" charset="-122"/>
                <a:cs typeface="Georgia" pitchFamily="34" charset="-120"/>
              </a:rPr>
              <a:t> </a:t>
            </a:r>
            <a:r>
              <a:rPr lang="en-US" sz="3600" dirty="0" err="1">
                <a:solidFill>
                  <a:srgbClr val="1B2A4A"/>
                </a:solidFill>
                <a:latin typeface="+mn-lt"/>
                <a:ea typeface="Georgia" pitchFamily="34" charset="-122"/>
                <a:cs typeface="Georgia" pitchFamily="34" charset="-120"/>
              </a:rPr>
              <a:t>vremena</a:t>
            </a:r>
            <a:r>
              <a:rPr lang="en-US" sz="3600" dirty="0">
                <a:solidFill>
                  <a:srgbClr val="1B2A4A"/>
                </a:solidFill>
                <a:latin typeface="+mn-lt"/>
                <a:ea typeface="Georgia" pitchFamily="34" charset="-122"/>
                <a:cs typeface="Georgia" pitchFamily="34" charset="-120"/>
              </a:rPr>
              <a:t> </a:t>
            </a:r>
            <a:r>
              <a:rPr lang="en-US" sz="3600" dirty="0" err="1">
                <a:solidFill>
                  <a:srgbClr val="1B2A4A"/>
                </a:solidFill>
                <a:latin typeface="+mn-lt"/>
                <a:ea typeface="Georgia" pitchFamily="34" charset="-122"/>
                <a:cs typeface="Georgia" pitchFamily="34" charset="-120"/>
              </a:rPr>
              <a:t>izvršavanja</a:t>
            </a:r>
            <a:r>
              <a:rPr lang="en-US" sz="3600" dirty="0">
                <a:solidFill>
                  <a:srgbClr val="1B2A4A"/>
                </a:solidFill>
                <a:latin typeface="+mn-lt"/>
                <a:ea typeface="Georgia" pitchFamily="34" charset="-122"/>
                <a:cs typeface="Georgia" pitchFamily="34" charset="-120"/>
              </a:rPr>
              <a:t> (</a:t>
            </a:r>
            <a:r>
              <a:rPr lang="en-US" sz="3600" dirty="0" err="1">
                <a:solidFill>
                  <a:srgbClr val="1B2A4A"/>
                </a:solidFill>
                <a:latin typeface="+mn-lt"/>
                <a:ea typeface="Georgia" pitchFamily="34" charset="-122"/>
                <a:cs typeface="Georgia" pitchFamily="34" charset="-120"/>
              </a:rPr>
              <a:t>ms</a:t>
            </a:r>
            <a:r>
              <a:rPr lang="en-US" sz="3600" dirty="0">
                <a:solidFill>
                  <a:srgbClr val="1B2A4A"/>
                </a:solidFill>
                <a:latin typeface="+mn-lt"/>
                <a:ea typeface="Georgia" pitchFamily="34" charset="-122"/>
                <a:cs typeface="Georgia" pitchFamily="34" charset="-120"/>
              </a:rPr>
              <a:t>)</a:t>
            </a:r>
            <a:endParaRPr lang="en-US" sz="3600" dirty="0">
              <a:latin typeface="+mn-lt"/>
            </a:endParaRP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D03A1CBE-DDC3-B573-C39C-3EBCD6ACBAC9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00" kern="1200">
                <a:solidFill>
                  <a:schemeClr val="accent5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5CEABB6-07DC-46E8-9B57-56EC44A396E5}" type="slidenum">
              <a:rPr lang="en-US" smtClean="0"/>
              <a:pPr/>
              <a:t>11</a:t>
            </a:fld>
            <a:endParaRPr lang="en-US" dirty="0"/>
          </a:p>
        </p:txBody>
      </p:sp>
      <p:graphicFrame>
        <p:nvGraphicFramePr>
          <p:cNvPr id="9" name="Chart 0">
            <a:extLst>
              <a:ext uri="{FF2B5EF4-FFF2-40B4-BE49-F238E27FC236}">
                <a16:creationId xmlns:a16="http://schemas.microsoft.com/office/drawing/2014/main" id="{678C335E-0C94-4630-BC46-181474385E7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10735812"/>
              </p:ext>
            </p:extLst>
          </p:nvPr>
        </p:nvGraphicFramePr>
        <p:xfrm>
          <a:off x="1897627" y="1326560"/>
          <a:ext cx="8242258" cy="510294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6208040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5E836D-C41F-1C7E-F8DF-66DFEC4B50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8484" y="748583"/>
            <a:ext cx="10515600" cy="1325563"/>
          </a:xfrm>
        </p:spPr>
        <p:txBody>
          <a:bodyPr/>
          <a:lstStyle/>
          <a:p>
            <a:pPr algn="l"/>
            <a:r>
              <a:rPr lang="en-US" dirty="0" err="1">
                <a:ea typeface="Georgia" pitchFamily="34" charset="-122"/>
                <a:cs typeface="Georgia" pitchFamily="34" charset="-120"/>
              </a:rPr>
              <a:t>Zašto</a:t>
            </a:r>
            <a:r>
              <a:rPr lang="en-US" dirty="0">
                <a:ea typeface="Georgia" pitchFamily="34" charset="-122"/>
                <a:cs typeface="Georgia" pitchFamily="34" charset="-120"/>
              </a:rPr>
              <a:t> </a:t>
            </a:r>
            <a:r>
              <a:rPr lang="en-US" dirty="0" err="1">
                <a:ea typeface="Georgia" pitchFamily="34" charset="-122"/>
                <a:cs typeface="Georgia" pitchFamily="34" charset="-120"/>
              </a:rPr>
              <a:t>su</a:t>
            </a:r>
            <a:r>
              <a:rPr lang="en-US" dirty="0">
                <a:ea typeface="Georgia" pitchFamily="34" charset="-122"/>
                <a:cs typeface="Georgia" pitchFamily="34" charset="-120"/>
              </a:rPr>
              <a:t> </a:t>
            </a:r>
            <a:r>
              <a:rPr lang="en-US" dirty="0" err="1">
                <a:ea typeface="Georgia" pitchFamily="34" charset="-122"/>
                <a:cs typeface="Georgia" pitchFamily="34" charset="-120"/>
              </a:rPr>
              <a:t>rezultati</a:t>
            </a:r>
            <a:r>
              <a:rPr lang="en-US" dirty="0">
                <a:ea typeface="Georgia" pitchFamily="34" charset="-122"/>
                <a:cs typeface="Georgia" pitchFamily="34" charset="-120"/>
              </a:rPr>
              <a:t> </a:t>
            </a:r>
            <a:r>
              <a:rPr lang="en-US" dirty="0" err="1">
                <a:ea typeface="Georgia" pitchFamily="34" charset="-122"/>
                <a:cs typeface="Georgia" pitchFamily="34" charset="-120"/>
              </a:rPr>
              <a:t>takvi</a:t>
            </a:r>
            <a:r>
              <a:rPr lang="en-US" dirty="0">
                <a:ea typeface="Georgia" pitchFamily="34" charset="-122"/>
                <a:cs typeface="Georgia" pitchFamily="34" charset="-120"/>
              </a:rPr>
              <a:t>?</a:t>
            </a:r>
            <a:br>
              <a:rPr lang="en-US" dirty="0"/>
            </a:br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4D5F2705-6A67-3DD9-3A8B-0AA5EEF434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14" name="Shape 1">
            <a:extLst>
              <a:ext uri="{FF2B5EF4-FFF2-40B4-BE49-F238E27FC236}">
                <a16:creationId xmlns:a16="http://schemas.microsoft.com/office/drawing/2014/main" id="{5E6EB858-72DE-044C-951A-25FDEE77F417}"/>
              </a:ext>
            </a:extLst>
          </p:cNvPr>
          <p:cNvSpPr/>
          <p:nvPr/>
        </p:nvSpPr>
        <p:spPr>
          <a:xfrm>
            <a:off x="1147916" y="2546456"/>
            <a:ext cx="4292764" cy="3049672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2">
            <a:extLst>
              <a:ext uri="{FF2B5EF4-FFF2-40B4-BE49-F238E27FC236}">
                <a16:creationId xmlns:a16="http://schemas.microsoft.com/office/drawing/2014/main" id="{434B7774-ADDA-3971-C232-899257EFE9C8}"/>
              </a:ext>
            </a:extLst>
          </p:cNvPr>
          <p:cNvSpPr/>
          <p:nvPr/>
        </p:nvSpPr>
        <p:spPr>
          <a:xfrm>
            <a:off x="1147916" y="2074146"/>
            <a:ext cx="4292764" cy="457200"/>
          </a:xfrm>
          <a:prstGeom prst="rect">
            <a:avLst/>
          </a:prstGeom>
          <a:solidFill>
            <a:schemeClr val="accent6">
              <a:lumMod val="75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3">
            <a:extLst>
              <a:ext uri="{FF2B5EF4-FFF2-40B4-BE49-F238E27FC236}">
                <a16:creationId xmlns:a16="http://schemas.microsoft.com/office/drawing/2014/main" id="{6AC6A56A-842D-46CF-0C28-236EE71E445A}"/>
              </a:ext>
            </a:extLst>
          </p:cNvPr>
          <p:cNvSpPr/>
          <p:nvPr/>
        </p:nvSpPr>
        <p:spPr>
          <a:xfrm>
            <a:off x="1330796" y="2089256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— brži za OLTP</a:t>
            </a:r>
            <a:endParaRPr lang="en-US" sz="1500" dirty="0"/>
          </a:p>
        </p:txBody>
      </p:sp>
      <p:sp>
        <p:nvSpPr>
          <p:cNvPr id="17" name="Text 4">
            <a:extLst>
              <a:ext uri="{FF2B5EF4-FFF2-40B4-BE49-F238E27FC236}">
                <a16:creationId xmlns:a16="http://schemas.microsoft.com/office/drawing/2014/main" id="{711D0CBA-2F9E-3BA0-05CD-7DE097B542BF}"/>
              </a:ext>
            </a:extLst>
          </p:cNvPr>
          <p:cNvSpPr/>
          <p:nvPr/>
        </p:nvSpPr>
        <p:spPr>
          <a:xfrm>
            <a:off x="1330796" y="2349225"/>
            <a:ext cx="3981868" cy="30823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Index Scan na primarnom ključu → direktan pristup redu bez prolaska kroz celu tabelu</a:t>
            </a:r>
            <a:endParaRPr lang="en-US" sz="1250" dirty="0"/>
          </a:p>
          <a:p>
            <a:pPr marL="0" indent="0">
              <a:spcAft>
                <a:spcPts val="300"/>
              </a:spcAft>
              <a:buNone/>
            </a:pPr>
            <a:endParaRPr lang="en-US" sz="12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Svi podaci jednog reda na istoj stranici → čitanje kompletnog zapisa u jednoj operaciji</a:t>
            </a:r>
            <a:endParaRPr lang="en-US" sz="1250" dirty="0"/>
          </a:p>
          <a:p>
            <a:pPr marL="0" indent="0">
              <a:spcAft>
                <a:spcPts val="300"/>
              </a:spcAft>
              <a:buNone/>
            </a:pPr>
            <a:endParaRPr lang="en-US" sz="12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MVCC → ažuriranje bez blokiranja ostalih korisnika</a:t>
            </a:r>
            <a:endParaRPr lang="en-US" sz="1250" dirty="0"/>
          </a:p>
          <a:p>
            <a:pPr marL="0" indent="0">
              <a:spcAft>
                <a:spcPts val="300"/>
              </a:spcAft>
              <a:buNone/>
            </a:pPr>
            <a:endParaRPr lang="en-US" sz="12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i="1" dirty="0">
                <a:solidFill>
                  <a:srgbClr val="64748B"/>
                </a:solidFill>
                <a:ea typeface="Calibri" pitchFamily="34" charset="-122"/>
                <a:cs typeface="Calibri" pitchFamily="34" charset="-120"/>
              </a:rPr>
              <a:t>Nedostatak: kod SUM() mora da čita sve kolone svakog reda, iako mu treba samo jedna</a:t>
            </a:r>
            <a:endParaRPr lang="en-US" sz="1250" dirty="0"/>
          </a:p>
        </p:txBody>
      </p:sp>
      <p:sp>
        <p:nvSpPr>
          <p:cNvPr id="18" name="Shape 5">
            <a:extLst>
              <a:ext uri="{FF2B5EF4-FFF2-40B4-BE49-F238E27FC236}">
                <a16:creationId xmlns:a16="http://schemas.microsoft.com/office/drawing/2014/main" id="{EC44DE90-A3D7-F3D9-28A5-90BBBCA390B6}"/>
              </a:ext>
            </a:extLst>
          </p:cNvPr>
          <p:cNvSpPr/>
          <p:nvPr/>
        </p:nvSpPr>
        <p:spPr>
          <a:xfrm>
            <a:off x="6096000" y="2501125"/>
            <a:ext cx="4292764" cy="3095003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9" name="Shape 6">
            <a:extLst>
              <a:ext uri="{FF2B5EF4-FFF2-40B4-BE49-F238E27FC236}">
                <a16:creationId xmlns:a16="http://schemas.microsoft.com/office/drawing/2014/main" id="{7D5E5B84-EA42-CF84-23AD-5B1D2B310CC0}"/>
              </a:ext>
            </a:extLst>
          </p:cNvPr>
          <p:cNvSpPr/>
          <p:nvPr/>
        </p:nvSpPr>
        <p:spPr>
          <a:xfrm>
            <a:off x="6096000" y="2043925"/>
            <a:ext cx="4292764" cy="457200"/>
          </a:xfrm>
          <a:prstGeom prst="rect">
            <a:avLst/>
          </a:prstGeom>
          <a:solidFill>
            <a:srgbClr val="E6A8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7">
            <a:extLst>
              <a:ext uri="{FF2B5EF4-FFF2-40B4-BE49-F238E27FC236}">
                <a16:creationId xmlns:a16="http://schemas.microsoft.com/office/drawing/2014/main" id="{4F774458-1B68-88D2-ED00-FAE5187A9B63}"/>
              </a:ext>
            </a:extLst>
          </p:cNvPr>
          <p:cNvSpPr/>
          <p:nvPr/>
        </p:nvSpPr>
        <p:spPr>
          <a:xfrm>
            <a:off x="6250268" y="2074146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DuckDB — brži za OLAP</a:t>
            </a:r>
            <a:endParaRPr lang="en-US" sz="1500" dirty="0"/>
          </a:p>
        </p:txBody>
      </p:sp>
      <p:sp>
        <p:nvSpPr>
          <p:cNvPr id="21" name="Text 8">
            <a:extLst>
              <a:ext uri="{FF2B5EF4-FFF2-40B4-BE49-F238E27FC236}">
                <a16:creationId xmlns:a16="http://schemas.microsoft.com/office/drawing/2014/main" id="{33652F43-CF0B-2D31-CF84-EB1ACA08FDCC}"/>
              </a:ext>
            </a:extLst>
          </p:cNvPr>
          <p:cNvSpPr/>
          <p:nvPr/>
        </p:nvSpPr>
        <p:spPr>
          <a:xfrm>
            <a:off x="6250268" y="2698356"/>
            <a:ext cx="3954436" cy="25679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Čita samo kolone potrebne za upit → za SUM(quantity) čita 1 od 8 kolona</a:t>
            </a:r>
            <a:endParaRPr lang="en-US" sz="1250" dirty="0"/>
          </a:p>
          <a:p>
            <a:pPr marL="0" indent="0">
              <a:spcAft>
                <a:spcPts val="300"/>
              </a:spcAft>
              <a:buNone/>
            </a:pPr>
            <a:endParaRPr lang="en-US" sz="12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Vektorizovana obrada → 2048 vrednosti u jednom bloku umesto red po red</a:t>
            </a:r>
            <a:endParaRPr lang="en-US" sz="1250" dirty="0"/>
          </a:p>
          <a:p>
            <a:pPr marL="0" indent="0">
              <a:spcAft>
                <a:spcPts val="300"/>
              </a:spcAft>
              <a:buNone/>
            </a:pPr>
            <a:endParaRPr lang="en-US" sz="12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Bolja kompresija → slične vrednosti iste kolone se lako kompresuju</a:t>
            </a:r>
            <a:endParaRPr lang="en-US" sz="1250" dirty="0"/>
          </a:p>
          <a:p>
            <a:pPr marL="0" indent="0">
              <a:spcAft>
                <a:spcPts val="300"/>
              </a:spcAft>
              <a:buNone/>
            </a:pPr>
            <a:endParaRPr lang="en-US" sz="12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i="1" dirty="0">
                <a:solidFill>
                  <a:srgbClr val="64748B"/>
                </a:solidFill>
                <a:ea typeface="Calibri" pitchFamily="34" charset="-122"/>
                <a:cs typeface="Calibri" pitchFamily="34" charset="-120"/>
              </a:rPr>
              <a:t>Nedostatak: za čitanje jednog kompletnog reda mora da sakupi podatke iz više segmenata</a:t>
            </a:r>
            <a:endParaRPr lang="en-US" sz="1250" dirty="0"/>
          </a:p>
        </p:txBody>
      </p:sp>
      <p:sp>
        <p:nvSpPr>
          <p:cNvPr id="22" name="Text 9">
            <a:extLst>
              <a:ext uri="{FF2B5EF4-FFF2-40B4-BE49-F238E27FC236}">
                <a16:creationId xmlns:a16="http://schemas.microsoft.com/office/drawing/2014/main" id="{D74036CB-BB19-2DE9-BEB5-60527758D6B6}"/>
              </a:ext>
            </a:extLst>
          </p:cNvPr>
          <p:cNvSpPr/>
          <p:nvPr/>
        </p:nvSpPr>
        <p:spPr>
          <a:xfrm>
            <a:off x="1495388" y="5793359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ea typeface="Calibri" pitchFamily="34" charset="-122"/>
                <a:cs typeface="Calibri" pitchFamily="34" charset="-120"/>
              </a:rPr>
              <a:t>Svaki sistem je brži u onome za šta je </a:t>
            </a:r>
            <a:r>
              <a:rPr lang="en-US" sz="1400" b="1" dirty="0" err="1">
                <a:ea typeface="Calibri" pitchFamily="34" charset="-122"/>
                <a:cs typeface="Calibri" pitchFamily="34" charset="-120"/>
              </a:rPr>
              <a:t>projektovan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7972428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EE663D-EA83-9192-B80B-D94C08572B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>
                <a:latin typeface="+mn-lt"/>
                <a:ea typeface="Georgia" pitchFamily="34" charset="-122"/>
                <a:cs typeface="Georgia" pitchFamily="34" charset="-120"/>
              </a:rPr>
              <a:t>Ovi </a:t>
            </a:r>
            <a:r>
              <a:rPr lang="en-US" dirty="0" err="1">
                <a:latin typeface="+mn-lt"/>
                <a:ea typeface="Georgia" pitchFamily="34" charset="-122"/>
                <a:cs typeface="Georgia" pitchFamily="34" charset="-120"/>
              </a:rPr>
              <a:t>sistemi</a:t>
            </a:r>
            <a:r>
              <a:rPr lang="en-US" dirty="0">
                <a:latin typeface="+mn-lt"/>
                <a:ea typeface="Georgia" pitchFamily="34" charset="-122"/>
                <a:cs typeface="Georgia" pitchFamily="34" charset="-120"/>
              </a:rPr>
              <a:t> </a:t>
            </a:r>
            <a:r>
              <a:rPr lang="en-US" dirty="0" err="1">
                <a:latin typeface="+mn-lt"/>
                <a:ea typeface="Georgia" pitchFamily="34" charset="-122"/>
                <a:cs typeface="Georgia" pitchFamily="34" charset="-120"/>
              </a:rPr>
              <a:t>nisu</a:t>
            </a:r>
            <a:r>
              <a:rPr lang="en-US" dirty="0">
                <a:latin typeface="+mn-lt"/>
                <a:ea typeface="Georgia" pitchFamily="34" charset="-122"/>
                <a:cs typeface="Georgia" pitchFamily="34" charset="-120"/>
              </a:rPr>
              <a:t> </a:t>
            </a:r>
            <a:r>
              <a:rPr lang="en-US" dirty="0" err="1">
                <a:latin typeface="+mn-lt"/>
                <a:ea typeface="Georgia" pitchFamily="34" charset="-122"/>
                <a:cs typeface="Georgia" pitchFamily="34" charset="-120"/>
              </a:rPr>
              <a:t>konkurenti</a:t>
            </a:r>
            <a:endParaRPr lang="en-US" dirty="0">
              <a:latin typeface="+mn-lt"/>
            </a:endParaRP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5FC0D747-8671-15CD-625A-4B74B81327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9CBCE27-D0B7-7C7B-1FF8-91364E2AC744}"/>
              </a:ext>
            </a:extLst>
          </p:cNvPr>
          <p:cNvSpPr txBox="1"/>
          <p:nvPr/>
        </p:nvSpPr>
        <p:spPr>
          <a:xfrm>
            <a:off x="1489587" y="2126890"/>
            <a:ext cx="60984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U </a:t>
            </a:r>
            <a:r>
              <a:rPr lang="en-US" sz="1800" dirty="0" err="1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praksi</a:t>
            </a:r>
            <a:r>
              <a:rPr lang="en-US" sz="180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 se </a:t>
            </a:r>
            <a:r>
              <a:rPr lang="en-US" sz="1800" dirty="0" err="1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mogu</a:t>
            </a:r>
            <a:r>
              <a:rPr lang="en-US" sz="180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dirty="0" err="1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koristiti</a:t>
            </a:r>
            <a:r>
              <a:rPr lang="en-US" sz="180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dirty="0" err="1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zajedno</a:t>
            </a:r>
            <a:r>
              <a:rPr lang="en-US" sz="180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:</a:t>
            </a:r>
            <a:endParaRPr lang="en-US" sz="1800" dirty="0"/>
          </a:p>
        </p:txBody>
      </p:sp>
      <p:sp>
        <p:nvSpPr>
          <p:cNvPr id="16" name="Shape 2">
            <a:extLst>
              <a:ext uri="{FF2B5EF4-FFF2-40B4-BE49-F238E27FC236}">
                <a16:creationId xmlns:a16="http://schemas.microsoft.com/office/drawing/2014/main" id="{312F5FB4-4E0E-8CE2-C27F-DC2DC4348FDC}"/>
              </a:ext>
            </a:extLst>
          </p:cNvPr>
          <p:cNvSpPr/>
          <p:nvPr/>
        </p:nvSpPr>
        <p:spPr>
          <a:xfrm>
            <a:off x="1612736" y="2743200"/>
            <a:ext cx="2743200" cy="1371600"/>
          </a:xfrm>
          <a:prstGeom prst="roundRect">
            <a:avLst>
              <a:gd name="adj" fmla="val 6667"/>
            </a:avLst>
          </a:prstGeom>
          <a:solidFill>
            <a:schemeClr val="accent6">
              <a:lumMod val="75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3">
            <a:extLst>
              <a:ext uri="{FF2B5EF4-FFF2-40B4-BE49-F238E27FC236}">
                <a16:creationId xmlns:a16="http://schemas.microsoft.com/office/drawing/2014/main" id="{E4C46652-BC1C-6A5C-FEF6-59EC51DD40F4}"/>
              </a:ext>
            </a:extLst>
          </p:cNvPr>
          <p:cNvSpPr/>
          <p:nvPr/>
        </p:nvSpPr>
        <p:spPr>
          <a:xfrm>
            <a:off x="1600200" y="2743200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PostgreSQL</a:t>
            </a:r>
            <a:endParaRPr lang="en-US" dirty="0"/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operativna baza</a:t>
            </a:r>
            <a:endParaRPr lang="en-US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korisnici, transakcije,</a:t>
            </a:r>
            <a:endParaRPr lang="en-US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svakodnevni rad aplikacije</a:t>
            </a:r>
            <a:endParaRPr lang="en-US" dirty="0"/>
          </a:p>
        </p:txBody>
      </p:sp>
      <p:sp>
        <p:nvSpPr>
          <p:cNvPr id="18" name="Text 4">
            <a:extLst>
              <a:ext uri="{FF2B5EF4-FFF2-40B4-BE49-F238E27FC236}">
                <a16:creationId xmlns:a16="http://schemas.microsoft.com/office/drawing/2014/main" id="{180D6851-4A9F-D743-C4B8-71D2F6BED2D1}"/>
              </a:ext>
            </a:extLst>
          </p:cNvPr>
          <p:cNvSpPr/>
          <p:nvPr/>
        </p:nvSpPr>
        <p:spPr>
          <a:xfrm>
            <a:off x="4538816" y="2985384"/>
            <a:ext cx="548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19" name="Text 5">
            <a:extLst>
              <a:ext uri="{FF2B5EF4-FFF2-40B4-BE49-F238E27FC236}">
                <a16:creationId xmlns:a16="http://schemas.microsoft.com/office/drawing/2014/main" id="{8E410A23-66C4-39E5-9B93-B120CB01BC2F}"/>
              </a:ext>
            </a:extLst>
          </p:cNvPr>
          <p:cNvSpPr/>
          <p:nvPr/>
        </p:nvSpPr>
        <p:spPr>
          <a:xfrm>
            <a:off x="4368472" y="3575304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ea typeface="Calibri" pitchFamily="34" charset="-122"/>
                <a:cs typeface="Calibri" pitchFamily="34" charset="-120"/>
              </a:rPr>
              <a:t>export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ea typeface="Calibri" pitchFamily="34" charset="-122"/>
                <a:cs typeface="Calibri" pitchFamily="34" charset="-120"/>
              </a:rPr>
              <a:t>(CSV / Parquet)</a:t>
            </a:r>
            <a:endParaRPr lang="en-US" sz="900" dirty="0"/>
          </a:p>
        </p:txBody>
      </p:sp>
      <p:sp>
        <p:nvSpPr>
          <p:cNvPr id="20" name="Shape 6">
            <a:extLst>
              <a:ext uri="{FF2B5EF4-FFF2-40B4-BE49-F238E27FC236}">
                <a16:creationId xmlns:a16="http://schemas.microsoft.com/office/drawing/2014/main" id="{43B1879B-6205-F2ED-3E6A-F959270A3454}"/>
              </a:ext>
            </a:extLst>
          </p:cNvPr>
          <p:cNvSpPr/>
          <p:nvPr/>
        </p:nvSpPr>
        <p:spPr>
          <a:xfrm>
            <a:off x="5270336" y="2743200"/>
            <a:ext cx="2743200" cy="1371600"/>
          </a:xfrm>
          <a:prstGeom prst="roundRect">
            <a:avLst>
              <a:gd name="adj" fmla="val 6667"/>
            </a:avLst>
          </a:prstGeom>
          <a:solidFill>
            <a:srgbClr val="E6A8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7">
            <a:extLst>
              <a:ext uri="{FF2B5EF4-FFF2-40B4-BE49-F238E27FC236}">
                <a16:creationId xmlns:a16="http://schemas.microsoft.com/office/drawing/2014/main" id="{8B592297-AC83-D1FF-9F35-5ED57282FAF6}"/>
              </a:ext>
            </a:extLst>
          </p:cNvPr>
          <p:cNvSpPr/>
          <p:nvPr/>
        </p:nvSpPr>
        <p:spPr>
          <a:xfrm>
            <a:off x="5245264" y="2712016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DuckDB</a:t>
            </a:r>
            <a:endParaRPr lang="en-US" dirty="0"/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analitički alat</a:t>
            </a:r>
            <a:endParaRPr lang="en-US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agregacije, izveštaji,</a:t>
            </a:r>
            <a:endParaRPr lang="en-US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brze analize podataka</a:t>
            </a:r>
            <a:endParaRPr lang="en-US" dirty="0"/>
          </a:p>
        </p:txBody>
      </p:sp>
      <p:sp>
        <p:nvSpPr>
          <p:cNvPr id="22" name="Text 8">
            <a:extLst>
              <a:ext uri="{FF2B5EF4-FFF2-40B4-BE49-F238E27FC236}">
                <a16:creationId xmlns:a16="http://schemas.microsoft.com/office/drawing/2014/main" id="{BFDFD5A9-5791-092D-0087-0FF29A9CCBB5}"/>
              </a:ext>
            </a:extLst>
          </p:cNvPr>
          <p:cNvSpPr/>
          <p:nvPr/>
        </p:nvSpPr>
        <p:spPr>
          <a:xfrm>
            <a:off x="8104976" y="3017520"/>
            <a:ext cx="548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23" name="Shape 9">
            <a:extLst>
              <a:ext uri="{FF2B5EF4-FFF2-40B4-BE49-F238E27FC236}">
                <a16:creationId xmlns:a16="http://schemas.microsoft.com/office/drawing/2014/main" id="{DDDC2D41-C9E6-83D6-7444-592E83FDD473}"/>
              </a:ext>
            </a:extLst>
          </p:cNvPr>
          <p:cNvSpPr/>
          <p:nvPr/>
        </p:nvSpPr>
        <p:spPr>
          <a:xfrm>
            <a:off x="8653616" y="2743200"/>
            <a:ext cx="1645920" cy="1371600"/>
          </a:xfrm>
          <a:prstGeom prst="roundRect">
            <a:avLst>
              <a:gd name="adj" fmla="val 6667"/>
            </a:avLst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10">
            <a:extLst>
              <a:ext uri="{FF2B5EF4-FFF2-40B4-BE49-F238E27FC236}">
                <a16:creationId xmlns:a16="http://schemas.microsoft.com/office/drawing/2014/main" id="{E9EAC623-27E3-7957-C4FC-B3561B82E32D}"/>
              </a:ext>
            </a:extLst>
          </p:cNvPr>
          <p:cNvSpPr/>
          <p:nvPr/>
        </p:nvSpPr>
        <p:spPr>
          <a:xfrm>
            <a:off x="8610600" y="2752344"/>
            <a:ext cx="1645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Rezultat</a:t>
            </a:r>
            <a:endParaRPr lang="en-US" sz="1600" dirty="0"/>
          </a:p>
          <a:p>
            <a:pPr marL="0" indent="0" algn="ctr">
              <a:buNone/>
            </a:pPr>
            <a:endParaRPr lang="en-US" sz="16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izveštaji,</a:t>
            </a:r>
            <a:endParaRPr lang="en-US" sz="16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grafici</a:t>
            </a:r>
            <a:endParaRPr lang="en-US" sz="16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26C66BE-A5D0-1D0D-4D6C-6986693A893D}"/>
              </a:ext>
            </a:extLst>
          </p:cNvPr>
          <p:cNvSpPr txBox="1"/>
          <p:nvPr/>
        </p:nvSpPr>
        <p:spPr>
          <a:xfrm>
            <a:off x="1492536" y="4795986"/>
            <a:ext cx="8763984" cy="1682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800" dirty="0" err="1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Analitički</a:t>
            </a:r>
            <a:r>
              <a:rPr lang="en-US" sz="180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dirty="0" err="1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upiti</a:t>
            </a:r>
            <a:r>
              <a:rPr lang="en-US" sz="180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 ne </a:t>
            </a:r>
            <a:r>
              <a:rPr lang="en-US" sz="1800" dirty="0" err="1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opterećuju</a:t>
            </a:r>
            <a:r>
              <a:rPr lang="en-US" sz="180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dirty="0" err="1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operativnu</a:t>
            </a:r>
            <a:r>
              <a:rPr lang="en-US" sz="180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dirty="0" err="1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bazu</a:t>
            </a:r>
            <a:endParaRPr lang="en-US" sz="1800" dirty="0"/>
          </a:p>
          <a:p>
            <a:pPr marL="0" indent="0">
              <a:spcAft>
                <a:spcPts val="400"/>
              </a:spcAft>
              <a:buNone/>
            </a:pP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DuckDB </a:t>
            </a:r>
            <a:r>
              <a:rPr lang="en-US" sz="1800" dirty="0" err="1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čita</a:t>
            </a:r>
            <a:r>
              <a:rPr lang="en-US" sz="180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dirty="0" err="1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fajlove</a:t>
            </a:r>
            <a:r>
              <a:rPr lang="en-US" sz="180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dirty="0" err="1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direktno</a:t>
            </a:r>
            <a:r>
              <a:rPr lang="en-US" sz="180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 — bez </a:t>
            </a:r>
            <a:r>
              <a:rPr lang="en-US" sz="1800" dirty="0" err="1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importa</a:t>
            </a:r>
            <a:r>
              <a:rPr lang="en-US" sz="180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dirty="0" err="1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i</a:t>
            </a:r>
            <a:r>
              <a:rPr lang="en-US" sz="180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 bez </a:t>
            </a:r>
            <a:r>
              <a:rPr lang="en-US" sz="1800" dirty="0" err="1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podešavanja</a:t>
            </a:r>
            <a:r>
              <a:rPr lang="en-US" sz="180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dirty="0" err="1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servera</a:t>
            </a:r>
            <a:endParaRPr lang="en-US" sz="1800" dirty="0"/>
          </a:p>
          <a:p>
            <a:pPr marL="0" indent="0">
              <a:spcAft>
                <a:spcPts val="400"/>
              </a:spcAft>
              <a:buNone/>
            </a:pP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Svaki </a:t>
            </a:r>
            <a:r>
              <a:rPr lang="en-US" sz="1800" dirty="0" err="1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sistem</a:t>
            </a:r>
            <a:r>
              <a:rPr lang="en-US" sz="180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dirty="0" err="1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radi</a:t>
            </a:r>
            <a:r>
              <a:rPr lang="en-US" sz="180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 ono za </a:t>
            </a:r>
            <a:r>
              <a:rPr lang="en-US" sz="1800" dirty="0" err="1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šta</a:t>
            </a:r>
            <a:r>
              <a:rPr lang="en-US" sz="180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 je </a:t>
            </a:r>
            <a:r>
              <a:rPr lang="en-US" sz="1800" dirty="0" err="1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optimizovan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510538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226552-D211-4D34-862F-65A44D0DED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22326"/>
            <a:ext cx="5684520" cy="903236"/>
          </a:xfrm>
        </p:spPr>
        <p:txBody>
          <a:bodyPr/>
          <a:lstStyle/>
          <a:p>
            <a:r>
              <a:rPr lang="sr-Latn-RS" dirty="0"/>
              <a:t>Zaključak</a:t>
            </a:r>
            <a:endParaRPr lang="en-US" dirty="0"/>
          </a:p>
        </p:txBody>
      </p:sp>
      <p:sp>
        <p:nvSpPr>
          <p:cNvPr id="34" name="Slide Number Placeholder 33">
            <a:extLst>
              <a:ext uri="{FF2B5EF4-FFF2-40B4-BE49-F238E27FC236}">
                <a16:creationId xmlns:a16="http://schemas.microsoft.com/office/drawing/2014/main" id="{FAED4C67-6AD4-4960-9032-B8D5435CD9D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CBEEB24-CB96-5467-E1C6-8AC35F2C1330}"/>
              </a:ext>
            </a:extLst>
          </p:cNvPr>
          <p:cNvSpPr txBox="1"/>
          <p:nvPr/>
        </p:nvSpPr>
        <p:spPr>
          <a:xfrm>
            <a:off x="441616" y="1882853"/>
            <a:ext cx="7403935" cy="342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800" dirty="0" err="1">
                <a:solidFill>
                  <a:schemeClr val="bg1">
                    <a:lumMod val="85000"/>
                  </a:schemeClr>
                </a:solidFill>
                <a:ea typeface="Calibri" pitchFamily="34" charset="-122"/>
                <a:cs typeface="Calibri" pitchFamily="34" charset="-120"/>
              </a:rPr>
              <a:t>Izbor</a:t>
            </a:r>
            <a:r>
              <a:rPr lang="en-US" sz="1800" dirty="0">
                <a:solidFill>
                  <a:schemeClr val="bg1">
                    <a:lumMod val="85000"/>
                  </a:schemeClr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dirty="0" err="1">
                <a:solidFill>
                  <a:schemeClr val="bg1">
                    <a:lumMod val="85000"/>
                  </a:schemeClr>
                </a:solidFill>
                <a:ea typeface="Calibri" pitchFamily="34" charset="-122"/>
                <a:cs typeface="Calibri" pitchFamily="34" charset="-120"/>
              </a:rPr>
              <a:t>baze</a:t>
            </a:r>
            <a:r>
              <a:rPr lang="en-US" sz="1800" dirty="0">
                <a:solidFill>
                  <a:schemeClr val="bg1">
                    <a:lumMod val="85000"/>
                  </a:schemeClr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dirty="0" err="1">
                <a:solidFill>
                  <a:schemeClr val="bg1">
                    <a:lumMod val="85000"/>
                  </a:schemeClr>
                </a:solidFill>
                <a:ea typeface="Calibri" pitchFamily="34" charset="-122"/>
                <a:cs typeface="Calibri" pitchFamily="34" charset="-120"/>
              </a:rPr>
              <a:t>podataka</a:t>
            </a:r>
            <a:r>
              <a:rPr lang="en-US" sz="1800" dirty="0">
                <a:solidFill>
                  <a:schemeClr val="bg1">
                    <a:lumMod val="85000"/>
                  </a:schemeClr>
                </a:solidFill>
                <a:ea typeface="Calibri" pitchFamily="34" charset="-122"/>
                <a:cs typeface="Calibri" pitchFamily="34" charset="-120"/>
              </a:rPr>
              <a:t> ne </a:t>
            </a:r>
            <a:r>
              <a:rPr lang="en-US" sz="1800" dirty="0" err="1">
                <a:solidFill>
                  <a:schemeClr val="bg1">
                    <a:lumMod val="85000"/>
                  </a:schemeClr>
                </a:solidFill>
                <a:ea typeface="Calibri" pitchFamily="34" charset="-122"/>
                <a:cs typeface="Calibri" pitchFamily="34" charset="-120"/>
              </a:rPr>
              <a:t>zavisi</a:t>
            </a:r>
            <a:r>
              <a:rPr lang="en-US" sz="1800" dirty="0">
                <a:solidFill>
                  <a:schemeClr val="bg1">
                    <a:lumMod val="85000"/>
                  </a:schemeClr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dirty="0" err="1">
                <a:solidFill>
                  <a:schemeClr val="bg1">
                    <a:lumMod val="85000"/>
                  </a:schemeClr>
                </a:solidFill>
                <a:ea typeface="Calibri" pitchFamily="34" charset="-122"/>
                <a:cs typeface="Calibri" pitchFamily="34" charset="-120"/>
              </a:rPr>
              <a:t>samo</a:t>
            </a:r>
            <a:r>
              <a:rPr lang="en-US" sz="1800" dirty="0">
                <a:solidFill>
                  <a:schemeClr val="bg1">
                    <a:lumMod val="85000"/>
                  </a:schemeClr>
                </a:solidFill>
                <a:ea typeface="Calibri" pitchFamily="34" charset="-122"/>
                <a:cs typeface="Calibri" pitchFamily="34" charset="-120"/>
              </a:rPr>
              <a:t> od toga da li </a:t>
            </a:r>
            <a:r>
              <a:rPr lang="en-US" sz="1800" dirty="0" err="1">
                <a:solidFill>
                  <a:schemeClr val="bg1">
                    <a:lumMod val="85000"/>
                  </a:schemeClr>
                </a:solidFill>
                <a:ea typeface="Calibri" pitchFamily="34" charset="-122"/>
                <a:cs typeface="Calibri" pitchFamily="34" charset="-120"/>
              </a:rPr>
              <a:t>podržava</a:t>
            </a:r>
            <a:r>
              <a:rPr lang="en-US" sz="1800" dirty="0">
                <a:solidFill>
                  <a:schemeClr val="bg1">
                    <a:lumMod val="85000"/>
                  </a:schemeClr>
                </a:solidFill>
                <a:ea typeface="Calibri" pitchFamily="34" charset="-122"/>
                <a:cs typeface="Calibri" pitchFamily="34" charset="-120"/>
              </a:rPr>
              <a:t> SQL —</a:t>
            </a:r>
            <a:endParaRPr lang="en-US" sz="1800" dirty="0">
              <a:solidFill>
                <a:schemeClr val="bg1">
                  <a:lumMod val="85000"/>
                </a:schemeClr>
              </a:solidFill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US" sz="1800" dirty="0">
                <a:solidFill>
                  <a:schemeClr val="bg1">
                    <a:lumMod val="85000"/>
                  </a:schemeClr>
                </a:solidFill>
                <a:ea typeface="Calibri" pitchFamily="34" charset="-122"/>
                <a:cs typeface="Calibri" pitchFamily="34" charset="-120"/>
              </a:rPr>
              <a:t>oba </a:t>
            </a:r>
            <a:r>
              <a:rPr lang="en-US" sz="1800" dirty="0" err="1">
                <a:solidFill>
                  <a:schemeClr val="bg1">
                    <a:lumMod val="85000"/>
                  </a:schemeClr>
                </a:solidFill>
                <a:ea typeface="Calibri" pitchFamily="34" charset="-122"/>
                <a:cs typeface="Calibri" pitchFamily="34" charset="-120"/>
              </a:rPr>
              <a:t>sistema</a:t>
            </a:r>
            <a:r>
              <a:rPr lang="en-US" sz="1800" dirty="0">
                <a:solidFill>
                  <a:schemeClr val="bg1">
                    <a:lumMod val="85000"/>
                  </a:schemeClr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dirty="0" err="1">
                <a:solidFill>
                  <a:schemeClr val="bg1">
                    <a:lumMod val="85000"/>
                  </a:schemeClr>
                </a:solidFill>
                <a:ea typeface="Calibri" pitchFamily="34" charset="-122"/>
                <a:cs typeface="Calibri" pitchFamily="34" charset="-120"/>
              </a:rPr>
              <a:t>podržavaju</a:t>
            </a:r>
            <a:r>
              <a:rPr lang="en-US" sz="1800" dirty="0">
                <a:solidFill>
                  <a:schemeClr val="bg1">
                    <a:lumMod val="85000"/>
                  </a:schemeClr>
                </a:solidFill>
                <a:ea typeface="Calibri" pitchFamily="34" charset="-122"/>
                <a:cs typeface="Calibri" pitchFamily="34" charset="-120"/>
              </a:rPr>
              <a:t> SQL </a:t>
            </a:r>
            <a:r>
              <a:rPr lang="en-US" sz="1800" dirty="0" err="1">
                <a:solidFill>
                  <a:schemeClr val="bg1">
                    <a:lumMod val="85000"/>
                  </a:schemeClr>
                </a:solidFill>
                <a:ea typeface="Calibri" pitchFamily="34" charset="-122"/>
                <a:cs typeface="Calibri" pitchFamily="34" charset="-120"/>
              </a:rPr>
              <a:t>i</a:t>
            </a:r>
            <a:r>
              <a:rPr lang="en-US" sz="1800" dirty="0">
                <a:solidFill>
                  <a:schemeClr val="bg1">
                    <a:lumMod val="85000"/>
                  </a:schemeClr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dirty="0" err="1">
                <a:solidFill>
                  <a:schemeClr val="bg1">
                    <a:lumMod val="85000"/>
                  </a:schemeClr>
                </a:solidFill>
                <a:ea typeface="Calibri" pitchFamily="34" charset="-122"/>
                <a:cs typeface="Calibri" pitchFamily="34" charset="-120"/>
              </a:rPr>
              <a:t>relacioni</a:t>
            </a:r>
            <a:r>
              <a:rPr lang="en-US" sz="1800" dirty="0">
                <a:solidFill>
                  <a:schemeClr val="bg1">
                    <a:lumMod val="85000"/>
                  </a:schemeClr>
                </a:solidFill>
                <a:ea typeface="Calibri" pitchFamily="34" charset="-122"/>
                <a:cs typeface="Calibri" pitchFamily="34" charset="-120"/>
              </a:rPr>
              <a:t> model.</a:t>
            </a:r>
            <a:endParaRPr lang="en-US" sz="1800" dirty="0">
              <a:solidFill>
                <a:schemeClr val="bg1">
                  <a:lumMod val="85000"/>
                </a:schemeClr>
              </a:solidFill>
            </a:endParaRPr>
          </a:p>
          <a:p>
            <a:pPr marL="0" indent="0">
              <a:lnSpc>
                <a:spcPct val="110000"/>
              </a:lnSpc>
              <a:buNone/>
            </a:pPr>
            <a:endParaRPr lang="en-US" sz="1800" dirty="0">
              <a:solidFill>
                <a:schemeClr val="bg1">
                  <a:lumMod val="85000"/>
                </a:schemeClr>
              </a:solidFill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US" sz="1800" b="1" dirty="0" err="1">
                <a:solidFill>
                  <a:schemeClr val="bg1">
                    <a:lumMod val="85000"/>
                  </a:schemeClr>
                </a:solidFill>
                <a:ea typeface="Calibri" pitchFamily="34" charset="-122"/>
                <a:cs typeface="Calibri" pitchFamily="34" charset="-120"/>
              </a:rPr>
              <a:t>Ključno</a:t>
            </a:r>
            <a:r>
              <a:rPr lang="en-US" sz="1800" b="1" dirty="0">
                <a:solidFill>
                  <a:schemeClr val="bg1">
                    <a:lumMod val="85000"/>
                  </a:schemeClr>
                </a:solidFill>
                <a:ea typeface="Calibri" pitchFamily="34" charset="-122"/>
                <a:cs typeface="Calibri" pitchFamily="34" charset="-120"/>
              </a:rPr>
              <a:t> je </a:t>
            </a:r>
            <a:r>
              <a:rPr lang="en-US" sz="1800" b="1" dirty="0" err="1">
                <a:solidFill>
                  <a:schemeClr val="bg1">
                    <a:lumMod val="85000"/>
                  </a:schemeClr>
                </a:solidFill>
                <a:ea typeface="Calibri" pitchFamily="34" charset="-122"/>
                <a:cs typeface="Calibri" pitchFamily="34" charset="-120"/>
              </a:rPr>
              <a:t>kako</a:t>
            </a:r>
            <a:r>
              <a:rPr lang="en-US" sz="1800" b="1" dirty="0">
                <a:solidFill>
                  <a:schemeClr val="bg1">
                    <a:lumMod val="85000"/>
                  </a:schemeClr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b="1" dirty="0" err="1">
                <a:solidFill>
                  <a:schemeClr val="bg1">
                    <a:lumMod val="85000"/>
                  </a:schemeClr>
                </a:solidFill>
                <a:ea typeface="Calibri" pitchFamily="34" charset="-122"/>
                <a:cs typeface="Calibri" pitchFamily="34" charset="-120"/>
              </a:rPr>
              <a:t>sistem</a:t>
            </a:r>
            <a:r>
              <a:rPr lang="en-US" sz="1800" b="1" dirty="0">
                <a:solidFill>
                  <a:schemeClr val="bg1">
                    <a:lumMod val="85000"/>
                  </a:schemeClr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b="1" dirty="0" err="1">
                <a:solidFill>
                  <a:schemeClr val="bg1">
                    <a:lumMod val="85000"/>
                  </a:schemeClr>
                </a:solidFill>
                <a:ea typeface="Calibri" pitchFamily="34" charset="-122"/>
                <a:cs typeface="Calibri" pitchFamily="34" charset="-120"/>
              </a:rPr>
              <a:t>interno</a:t>
            </a:r>
            <a:r>
              <a:rPr lang="en-US" sz="1800" b="1" dirty="0">
                <a:solidFill>
                  <a:schemeClr val="bg1">
                    <a:lumMod val="85000"/>
                  </a:schemeClr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b="1" dirty="0" err="1">
                <a:solidFill>
                  <a:schemeClr val="bg1">
                    <a:lumMod val="85000"/>
                  </a:schemeClr>
                </a:solidFill>
                <a:ea typeface="Calibri" pitchFamily="34" charset="-122"/>
                <a:cs typeface="Calibri" pitchFamily="34" charset="-120"/>
              </a:rPr>
              <a:t>organizuje</a:t>
            </a:r>
            <a:r>
              <a:rPr lang="en-US" sz="1800" b="1" dirty="0">
                <a:solidFill>
                  <a:schemeClr val="bg1">
                    <a:lumMod val="85000"/>
                  </a:schemeClr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b="1" dirty="0" err="1">
                <a:solidFill>
                  <a:schemeClr val="bg1">
                    <a:lumMod val="85000"/>
                  </a:schemeClr>
                </a:solidFill>
                <a:ea typeface="Calibri" pitchFamily="34" charset="-122"/>
                <a:cs typeface="Calibri" pitchFamily="34" charset="-120"/>
              </a:rPr>
              <a:t>i</a:t>
            </a:r>
            <a:r>
              <a:rPr lang="en-US" sz="1800" b="1" dirty="0">
                <a:solidFill>
                  <a:schemeClr val="bg1">
                    <a:lumMod val="85000"/>
                  </a:schemeClr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b="1" dirty="0" err="1">
                <a:solidFill>
                  <a:schemeClr val="bg1">
                    <a:lumMod val="85000"/>
                  </a:schemeClr>
                </a:solidFill>
                <a:ea typeface="Calibri" pitchFamily="34" charset="-122"/>
                <a:cs typeface="Calibri" pitchFamily="34" charset="-120"/>
              </a:rPr>
              <a:t>obrađuje</a:t>
            </a:r>
            <a:r>
              <a:rPr lang="en-US" sz="1800" b="1" dirty="0">
                <a:solidFill>
                  <a:schemeClr val="bg1">
                    <a:lumMod val="85000"/>
                  </a:schemeClr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b="1" dirty="0" err="1">
                <a:solidFill>
                  <a:schemeClr val="bg1">
                    <a:lumMod val="85000"/>
                  </a:schemeClr>
                </a:solidFill>
                <a:ea typeface="Calibri" pitchFamily="34" charset="-122"/>
                <a:cs typeface="Calibri" pitchFamily="34" charset="-120"/>
              </a:rPr>
              <a:t>podatke</a:t>
            </a:r>
            <a:r>
              <a:rPr lang="en-US" sz="1800" b="1" dirty="0">
                <a:solidFill>
                  <a:schemeClr val="bg1">
                    <a:lumMod val="85000"/>
                  </a:schemeClr>
                </a:solidFill>
                <a:ea typeface="Calibri" pitchFamily="34" charset="-122"/>
                <a:cs typeface="Calibri" pitchFamily="34" charset="-120"/>
              </a:rPr>
              <a:t>.</a:t>
            </a:r>
            <a:endParaRPr lang="en-US" sz="1800" dirty="0">
              <a:solidFill>
                <a:schemeClr val="bg1">
                  <a:lumMod val="85000"/>
                </a:schemeClr>
              </a:solidFill>
            </a:endParaRPr>
          </a:p>
          <a:p>
            <a:pPr marL="0" indent="0">
              <a:lnSpc>
                <a:spcPct val="110000"/>
              </a:lnSpc>
              <a:buNone/>
            </a:pPr>
            <a:endParaRPr lang="en-US" sz="1800" dirty="0">
              <a:solidFill>
                <a:schemeClr val="bg1">
                  <a:lumMod val="85000"/>
                </a:schemeClr>
              </a:solidFill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US" sz="1800" dirty="0">
                <a:solidFill>
                  <a:schemeClr val="bg1">
                    <a:lumMod val="85000"/>
                  </a:schemeClr>
                </a:solidFill>
                <a:ea typeface="Calibri" pitchFamily="34" charset="-122"/>
                <a:cs typeface="Calibri" pitchFamily="34" charset="-120"/>
              </a:rPr>
              <a:t>PostgreSQL (row-oriented) → </a:t>
            </a:r>
            <a:r>
              <a:rPr lang="en-US" sz="1800" dirty="0" err="1">
                <a:solidFill>
                  <a:schemeClr val="bg1">
                    <a:lumMod val="85000"/>
                  </a:schemeClr>
                </a:solidFill>
                <a:ea typeface="Calibri" pitchFamily="34" charset="-122"/>
                <a:cs typeface="Calibri" pitchFamily="34" charset="-120"/>
              </a:rPr>
              <a:t>brži</a:t>
            </a:r>
            <a:r>
              <a:rPr lang="en-US" sz="1800" dirty="0">
                <a:solidFill>
                  <a:schemeClr val="bg1">
                    <a:lumMod val="85000"/>
                  </a:schemeClr>
                </a:solidFill>
                <a:ea typeface="Calibri" pitchFamily="34" charset="-122"/>
                <a:cs typeface="Calibri" pitchFamily="34" charset="-120"/>
              </a:rPr>
              <a:t> za </a:t>
            </a:r>
            <a:r>
              <a:rPr lang="en-US" sz="1800" dirty="0" err="1">
                <a:solidFill>
                  <a:schemeClr val="bg1">
                    <a:lumMod val="85000"/>
                  </a:schemeClr>
                </a:solidFill>
                <a:ea typeface="Calibri" pitchFamily="34" charset="-122"/>
                <a:cs typeface="Calibri" pitchFamily="34" charset="-120"/>
              </a:rPr>
              <a:t>čitanje</a:t>
            </a:r>
            <a:r>
              <a:rPr lang="en-US" sz="1800" dirty="0">
                <a:solidFill>
                  <a:schemeClr val="bg1">
                    <a:lumMod val="85000"/>
                  </a:schemeClr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dirty="0" err="1">
                <a:solidFill>
                  <a:schemeClr val="bg1">
                    <a:lumMod val="85000"/>
                  </a:schemeClr>
                </a:solidFill>
                <a:ea typeface="Calibri" pitchFamily="34" charset="-122"/>
                <a:cs typeface="Calibri" pitchFamily="34" charset="-120"/>
              </a:rPr>
              <a:t>i</a:t>
            </a:r>
            <a:r>
              <a:rPr lang="en-US" sz="1800" dirty="0">
                <a:solidFill>
                  <a:schemeClr val="bg1">
                    <a:lumMod val="85000"/>
                  </a:schemeClr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dirty="0" err="1">
                <a:solidFill>
                  <a:schemeClr val="bg1">
                    <a:lumMod val="85000"/>
                  </a:schemeClr>
                </a:solidFill>
                <a:ea typeface="Calibri" pitchFamily="34" charset="-122"/>
                <a:cs typeface="Calibri" pitchFamily="34" charset="-120"/>
              </a:rPr>
              <a:t>izmenu</a:t>
            </a:r>
            <a:r>
              <a:rPr lang="en-US" sz="1800" dirty="0">
                <a:solidFill>
                  <a:schemeClr val="bg1">
                    <a:lumMod val="85000"/>
                  </a:schemeClr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dirty="0" err="1">
                <a:solidFill>
                  <a:schemeClr val="bg1">
                    <a:lumMod val="85000"/>
                  </a:schemeClr>
                </a:solidFill>
                <a:ea typeface="Calibri" pitchFamily="34" charset="-122"/>
                <a:cs typeface="Calibri" pitchFamily="34" charset="-120"/>
              </a:rPr>
              <a:t>pojedinačnih</a:t>
            </a:r>
            <a:r>
              <a:rPr lang="en-US" sz="1800" dirty="0">
                <a:solidFill>
                  <a:schemeClr val="bg1">
                    <a:lumMod val="85000"/>
                  </a:schemeClr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dirty="0" err="1">
                <a:solidFill>
                  <a:schemeClr val="bg1">
                    <a:lumMod val="85000"/>
                  </a:schemeClr>
                </a:solidFill>
                <a:ea typeface="Calibri" pitchFamily="34" charset="-122"/>
                <a:cs typeface="Calibri" pitchFamily="34" charset="-120"/>
              </a:rPr>
              <a:t>redova</a:t>
            </a:r>
            <a:endParaRPr lang="en-US" sz="1800" dirty="0">
              <a:solidFill>
                <a:schemeClr val="bg1">
                  <a:lumMod val="85000"/>
                </a:schemeClr>
              </a:solidFill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US" sz="1800" dirty="0" err="1">
                <a:solidFill>
                  <a:schemeClr val="bg1">
                    <a:lumMod val="85000"/>
                  </a:schemeClr>
                </a:solidFill>
                <a:ea typeface="Calibri" pitchFamily="34" charset="-122"/>
                <a:cs typeface="Calibri" pitchFamily="34" charset="-120"/>
              </a:rPr>
              <a:t>DuckDB</a:t>
            </a:r>
            <a:r>
              <a:rPr lang="en-US" sz="1800" dirty="0">
                <a:solidFill>
                  <a:schemeClr val="bg1">
                    <a:lumMod val="85000"/>
                  </a:schemeClr>
                </a:solidFill>
                <a:ea typeface="Calibri" pitchFamily="34" charset="-122"/>
                <a:cs typeface="Calibri" pitchFamily="34" charset="-120"/>
              </a:rPr>
              <a:t> (column-oriented) → </a:t>
            </a:r>
            <a:r>
              <a:rPr lang="en-US" sz="1800" dirty="0" err="1">
                <a:solidFill>
                  <a:schemeClr val="bg1">
                    <a:lumMod val="85000"/>
                  </a:schemeClr>
                </a:solidFill>
                <a:ea typeface="Calibri" pitchFamily="34" charset="-122"/>
                <a:cs typeface="Calibri" pitchFamily="34" charset="-120"/>
              </a:rPr>
              <a:t>brži</a:t>
            </a:r>
            <a:r>
              <a:rPr lang="en-US" sz="1800" dirty="0">
                <a:solidFill>
                  <a:schemeClr val="bg1">
                    <a:lumMod val="85000"/>
                  </a:schemeClr>
                </a:solidFill>
                <a:ea typeface="Calibri" pitchFamily="34" charset="-122"/>
                <a:cs typeface="Calibri" pitchFamily="34" charset="-120"/>
              </a:rPr>
              <a:t> za </a:t>
            </a:r>
            <a:r>
              <a:rPr lang="en-US" sz="1800" dirty="0" err="1">
                <a:solidFill>
                  <a:schemeClr val="bg1">
                    <a:lumMod val="85000"/>
                  </a:schemeClr>
                </a:solidFill>
                <a:ea typeface="Calibri" pitchFamily="34" charset="-122"/>
                <a:cs typeface="Calibri" pitchFamily="34" charset="-120"/>
              </a:rPr>
              <a:t>agregacije</a:t>
            </a:r>
            <a:r>
              <a:rPr lang="en-US" sz="1800" dirty="0">
                <a:solidFill>
                  <a:schemeClr val="bg1">
                    <a:lumMod val="85000"/>
                  </a:schemeClr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dirty="0" err="1">
                <a:solidFill>
                  <a:schemeClr val="bg1">
                    <a:lumMod val="85000"/>
                  </a:schemeClr>
                </a:solidFill>
                <a:ea typeface="Calibri" pitchFamily="34" charset="-122"/>
                <a:cs typeface="Calibri" pitchFamily="34" charset="-120"/>
              </a:rPr>
              <a:t>i</a:t>
            </a:r>
            <a:r>
              <a:rPr lang="en-US" sz="1800" dirty="0">
                <a:solidFill>
                  <a:schemeClr val="bg1">
                    <a:lumMod val="85000"/>
                  </a:schemeClr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dirty="0" err="1">
                <a:solidFill>
                  <a:schemeClr val="bg1">
                    <a:lumMod val="85000"/>
                  </a:schemeClr>
                </a:solidFill>
                <a:ea typeface="Calibri" pitchFamily="34" charset="-122"/>
                <a:cs typeface="Calibri" pitchFamily="34" charset="-120"/>
              </a:rPr>
              <a:t>analitičke</a:t>
            </a:r>
            <a:r>
              <a:rPr lang="en-US" sz="1800" dirty="0">
                <a:solidFill>
                  <a:schemeClr val="bg1">
                    <a:lumMod val="85000"/>
                  </a:schemeClr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dirty="0" err="1">
                <a:solidFill>
                  <a:schemeClr val="bg1">
                    <a:lumMod val="85000"/>
                  </a:schemeClr>
                </a:solidFill>
                <a:ea typeface="Calibri" pitchFamily="34" charset="-122"/>
                <a:cs typeface="Calibri" pitchFamily="34" charset="-120"/>
              </a:rPr>
              <a:t>upite</a:t>
            </a:r>
            <a:endParaRPr lang="en-US" sz="1800" dirty="0">
              <a:solidFill>
                <a:schemeClr val="bg1">
                  <a:lumMod val="85000"/>
                </a:schemeClr>
              </a:solidFill>
            </a:endParaRPr>
          </a:p>
          <a:p>
            <a:pPr marL="0" indent="0">
              <a:lnSpc>
                <a:spcPct val="110000"/>
              </a:lnSpc>
              <a:buNone/>
            </a:pPr>
            <a:endParaRPr lang="en-US" sz="1800" dirty="0">
              <a:solidFill>
                <a:schemeClr val="bg1">
                  <a:lumMod val="85000"/>
                </a:schemeClr>
              </a:solidFill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US" sz="1800" dirty="0">
                <a:solidFill>
                  <a:schemeClr val="bg1">
                    <a:lumMod val="85000"/>
                  </a:schemeClr>
                </a:solidFill>
                <a:ea typeface="Calibri" pitchFamily="34" charset="-122"/>
                <a:cs typeface="Calibri" pitchFamily="34" charset="-120"/>
              </a:rPr>
              <a:t>Isti </a:t>
            </a:r>
            <a:r>
              <a:rPr lang="en-US" sz="1800" dirty="0" err="1">
                <a:solidFill>
                  <a:schemeClr val="bg1">
                    <a:lumMod val="85000"/>
                  </a:schemeClr>
                </a:solidFill>
                <a:ea typeface="Calibri" pitchFamily="34" charset="-122"/>
                <a:cs typeface="Calibri" pitchFamily="34" charset="-120"/>
              </a:rPr>
              <a:t>upit</a:t>
            </a:r>
            <a:r>
              <a:rPr lang="en-US" sz="1800" dirty="0">
                <a:solidFill>
                  <a:schemeClr val="bg1">
                    <a:lumMod val="85000"/>
                  </a:schemeClr>
                </a:solidFill>
                <a:ea typeface="Calibri" pitchFamily="34" charset="-122"/>
                <a:cs typeface="Calibri" pitchFamily="34" charset="-120"/>
              </a:rPr>
              <a:t>, </a:t>
            </a:r>
            <a:r>
              <a:rPr lang="en-US" sz="1800" dirty="0" err="1">
                <a:solidFill>
                  <a:schemeClr val="bg1">
                    <a:lumMod val="85000"/>
                  </a:schemeClr>
                </a:solidFill>
                <a:ea typeface="Calibri" pitchFamily="34" charset="-122"/>
                <a:cs typeface="Calibri" pitchFamily="34" charset="-120"/>
              </a:rPr>
              <a:t>isti</a:t>
            </a:r>
            <a:r>
              <a:rPr lang="en-US" sz="1800" dirty="0">
                <a:solidFill>
                  <a:schemeClr val="bg1">
                    <a:lumMod val="85000"/>
                  </a:schemeClr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dirty="0" err="1">
                <a:solidFill>
                  <a:schemeClr val="bg1">
                    <a:lumMod val="85000"/>
                  </a:schemeClr>
                </a:solidFill>
                <a:ea typeface="Calibri" pitchFamily="34" charset="-122"/>
                <a:cs typeface="Calibri" pitchFamily="34" charset="-120"/>
              </a:rPr>
              <a:t>jezik</a:t>
            </a:r>
            <a:r>
              <a:rPr lang="en-US" sz="1800" dirty="0">
                <a:solidFill>
                  <a:schemeClr val="bg1">
                    <a:lumMod val="85000"/>
                  </a:schemeClr>
                </a:solidFill>
                <a:ea typeface="Calibri" pitchFamily="34" charset="-122"/>
                <a:cs typeface="Calibri" pitchFamily="34" charset="-120"/>
              </a:rPr>
              <a:t> — </a:t>
            </a:r>
            <a:r>
              <a:rPr lang="en-US" sz="1800" dirty="0" err="1">
                <a:solidFill>
                  <a:schemeClr val="bg1">
                    <a:lumMod val="85000"/>
                  </a:schemeClr>
                </a:solidFill>
                <a:ea typeface="Calibri" pitchFamily="34" charset="-122"/>
                <a:cs typeface="Calibri" pitchFamily="34" charset="-120"/>
              </a:rPr>
              <a:t>ali</a:t>
            </a:r>
            <a:r>
              <a:rPr lang="en-US" sz="1800" dirty="0">
                <a:solidFill>
                  <a:schemeClr val="bg1">
                    <a:lumMod val="85000"/>
                  </a:schemeClr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dirty="0" err="1">
                <a:solidFill>
                  <a:schemeClr val="bg1">
                    <a:lumMod val="85000"/>
                  </a:schemeClr>
                </a:solidFill>
                <a:ea typeface="Calibri" pitchFamily="34" charset="-122"/>
                <a:cs typeface="Calibri" pitchFamily="34" charset="-120"/>
              </a:rPr>
              <a:t>različite</a:t>
            </a:r>
            <a:r>
              <a:rPr lang="en-US" sz="1800" dirty="0">
                <a:solidFill>
                  <a:schemeClr val="bg1">
                    <a:lumMod val="85000"/>
                  </a:schemeClr>
                </a:solidFill>
                <a:ea typeface="Calibri" pitchFamily="34" charset="-122"/>
                <a:cs typeface="Calibri" pitchFamily="34" charset="-120"/>
              </a:rPr>
              <a:t> performance</a:t>
            </a:r>
            <a:r>
              <a:rPr lang="sr-Latn-RS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en-US" sz="1800" dirty="0" err="1">
                <a:solidFill>
                  <a:schemeClr val="bg1">
                    <a:lumMod val="85000"/>
                  </a:schemeClr>
                </a:solidFill>
                <a:ea typeface="Calibri" pitchFamily="34" charset="-122"/>
                <a:cs typeface="Calibri" pitchFamily="34" charset="-120"/>
              </a:rPr>
              <a:t>zavisno</a:t>
            </a:r>
            <a:r>
              <a:rPr lang="en-US" sz="1800" dirty="0">
                <a:solidFill>
                  <a:schemeClr val="bg1">
                    <a:lumMod val="85000"/>
                  </a:schemeClr>
                </a:solidFill>
                <a:ea typeface="Calibri" pitchFamily="34" charset="-122"/>
                <a:cs typeface="Calibri" pitchFamily="34" charset="-120"/>
              </a:rPr>
              <a:t> od </a:t>
            </a:r>
            <a:r>
              <a:rPr lang="en-US" sz="1800" dirty="0" err="1">
                <a:solidFill>
                  <a:schemeClr val="bg1">
                    <a:lumMod val="85000"/>
                  </a:schemeClr>
                </a:solidFill>
                <a:ea typeface="Calibri" pitchFamily="34" charset="-122"/>
                <a:cs typeface="Calibri" pitchFamily="34" charset="-120"/>
              </a:rPr>
              <a:t>arhitekture</a:t>
            </a:r>
            <a:r>
              <a:rPr lang="en-US" sz="1800" dirty="0">
                <a:solidFill>
                  <a:schemeClr val="bg1">
                    <a:lumMod val="85000"/>
                  </a:schemeClr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dirty="0" err="1">
                <a:solidFill>
                  <a:schemeClr val="bg1">
                    <a:lumMod val="85000"/>
                  </a:schemeClr>
                </a:solidFill>
                <a:ea typeface="Calibri" pitchFamily="34" charset="-122"/>
                <a:cs typeface="Calibri" pitchFamily="34" charset="-120"/>
              </a:rPr>
              <a:t>sistema</a:t>
            </a:r>
            <a:r>
              <a:rPr lang="en-US" sz="1800" dirty="0">
                <a:solidFill>
                  <a:schemeClr val="bg1">
                    <a:lumMod val="85000"/>
                  </a:schemeClr>
                </a:solidFill>
                <a:ea typeface="Calibri" pitchFamily="34" charset="-122"/>
                <a:cs typeface="Calibri" pitchFamily="34" charset="-120"/>
              </a:rPr>
              <a:t>.</a:t>
            </a:r>
            <a:endParaRPr lang="en-US" sz="1800" dirty="0">
              <a:solidFill>
                <a:schemeClr val="bg1">
                  <a:lumMod val="85000"/>
                </a:schemeClr>
              </a:solidFill>
            </a:endParaRPr>
          </a:p>
          <a:p>
            <a:pPr marL="0" indent="0">
              <a:lnSpc>
                <a:spcPct val="110000"/>
              </a:lnSpc>
              <a:buNone/>
            </a:pPr>
            <a:endParaRPr lang="en-US" sz="1800" dirty="0">
              <a:solidFill>
                <a:schemeClr val="bg1">
                  <a:lumMod val="85000"/>
                </a:schemeClr>
              </a:solidFill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US" sz="1800" b="1" dirty="0">
                <a:solidFill>
                  <a:schemeClr val="bg1">
                    <a:lumMod val="85000"/>
                  </a:schemeClr>
                </a:solidFill>
                <a:ea typeface="Calibri" pitchFamily="34" charset="-122"/>
                <a:cs typeface="Calibri" pitchFamily="34" charset="-120"/>
              </a:rPr>
              <a:t>Ova </a:t>
            </a:r>
            <a:r>
              <a:rPr lang="en-US" sz="1800" b="1" dirty="0" err="1">
                <a:solidFill>
                  <a:schemeClr val="bg1">
                    <a:lumMod val="85000"/>
                  </a:schemeClr>
                </a:solidFill>
                <a:ea typeface="Calibri" pitchFamily="34" charset="-122"/>
                <a:cs typeface="Calibri" pitchFamily="34" charset="-120"/>
              </a:rPr>
              <a:t>dva</a:t>
            </a:r>
            <a:r>
              <a:rPr lang="en-US" sz="1800" b="1" dirty="0">
                <a:solidFill>
                  <a:schemeClr val="bg1">
                    <a:lumMod val="85000"/>
                  </a:schemeClr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b="1" dirty="0" err="1">
                <a:solidFill>
                  <a:schemeClr val="bg1">
                    <a:lumMod val="85000"/>
                  </a:schemeClr>
                </a:solidFill>
                <a:ea typeface="Calibri" pitchFamily="34" charset="-122"/>
                <a:cs typeface="Calibri" pitchFamily="34" charset="-120"/>
              </a:rPr>
              <a:t>sistema</a:t>
            </a:r>
            <a:r>
              <a:rPr lang="en-US" sz="1800" b="1" dirty="0">
                <a:solidFill>
                  <a:schemeClr val="bg1">
                    <a:lumMod val="85000"/>
                  </a:schemeClr>
                </a:solidFill>
                <a:ea typeface="Calibri" pitchFamily="34" charset="-122"/>
                <a:cs typeface="Calibri" pitchFamily="34" charset="-120"/>
              </a:rPr>
              <a:t> se ne </a:t>
            </a:r>
            <a:r>
              <a:rPr lang="en-US" sz="1800" b="1" dirty="0" err="1">
                <a:solidFill>
                  <a:schemeClr val="bg1">
                    <a:lumMod val="85000"/>
                  </a:schemeClr>
                </a:solidFill>
                <a:ea typeface="Calibri" pitchFamily="34" charset="-122"/>
                <a:cs typeface="Calibri" pitchFamily="34" charset="-120"/>
              </a:rPr>
              <a:t>isključuju</a:t>
            </a:r>
            <a:r>
              <a:rPr lang="en-US" sz="1800" b="1" dirty="0">
                <a:solidFill>
                  <a:schemeClr val="bg1">
                    <a:lumMod val="85000"/>
                  </a:schemeClr>
                </a:solidFill>
                <a:ea typeface="Calibri" pitchFamily="34" charset="-122"/>
                <a:cs typeface="Calibri" pitchFamily="34" charset="-120"/>
              </a:rPr>
              <a:t> — </a:t>
            </a:r>
            <a:r>
              <a:rPr lang="en-US" sz="1800" b="1" dirty="0" err="1">
                <a:solidFill>
                  <a:schemeClr val="bg1">
                    <a:lumMod val="85000"/>
                  </a:schemeClr>
                </a:solidFill>
                <a:ea typeface="Calibri" pitchFamily="34" charset="-122"/>
                <a:cs typeface="Calibri" pitchFamily="34" charset="-120"/>
              </a:rPr>
              <a:t>mogu</a:t>
            </a:r>
            <a:r>
              <a:rPr lang="en-US" sz="1800" b="1" dirty="0">
                <a:solidFill>
                  <a:schemeClr val="bg1">
                    <a:lumMod val="85000"/>
                  </a:schemeClr>
                </a:solidFill>
                <a:ea typeface="Calibri" pitchFamily="34" charset="-122"/>
                <a:cs typeface="Calibri" pitchFamily="34" charset="-120"/>
              </a:rPr>
              <a:t> se </a:t>
            </a:r>
            <a:r>
              <a:rPr lang="en-US" sz="1800" b="1" dirty="0" err="1">
                <a:solidFill>
                  <a:schemeClr val="bg1">
                    <a:lumMod val="85000"/>
                  </a:schemeClr>
                </a:solidFill>
                <a:ea typeface="Calibri" pitchFamily="34" charset="-122"/>
                <a:cs typeface="Calibri" pitchFamily="34" charset="-120"/>
              </a:rPr>
              <a:t>dopunjavati</a:t>
            </a:r>
            <a:r>
              <a:rPr lang="sr-Latn-RS" sz="1800" b="1" dirty="0">
                <a:solidFill>
                  <a:schemeClr val="bg1">
                    <a:lumMod val="85000"/>
                  </a:schemeClr>
                </a:solidFill>
                <a:ea typeface="Calibri" pitchFamily="34" charset="-122"/>
                <a:cs typeface="Calibri" pitchFamily="34" charset="-120"/>
              </a:rPr>
              <a:t>.</a:t>
            </a:r>
            <a:endParaRPr lang="en-US" dirty="0">
              <a:solidFill>
                <a:schemeClr val="bg1">
                  <a:lumMod val="8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29119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CAEE93-8585-46D4-A7EC-F184E317CB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9994" y="2328319"/>
            <a:ext cx="5257800" cy="1659716"/>
          </a:xfrm>
        </p:spPr>
        <p:txBody>
          <a:bodyPr/>
          <a:lstStyle/>
          <a:p>
            <a:r>
              <a:rPr lang="sr-Latn-RS" dirty="0"/>
              <a:t>Hvala na pažnji!</a:t>
            </a:r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2257BCF9-933D-4329-B564-4E404B1CAF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2998563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81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62A25D"/>
      </a:accent1>
      <a:accent2>
        <a:srgbClr val="A0DADE"/>
      </a:accent2>
      <a:accent3>
        <a:srgbClr val="CCB5E5"/>
      </a:accent3>
      <a:accent4>
        <a:srgbClr val="29285D"/>
      </a:accent4>
      <a:accent5>
        <a:srgbClr val="EDF1F2"/>
      </a:accent5>
      <a:accent6>
        <a:srgbClr val="70AD47"/>
      </a:accent6>
      <a:hlink>
        <a:srgbClr val="A0DADE"/>
      </a:hlink>
      <a:folHlink>
        <a:srgbClr val="954F72"/>
      </a:folHlink>
    </a:clrScheme>
    <a:fontScheme name="Custom 62">
      <a:majorFont>
        <a:latin typeface="Skeena"/>
        <a:ea typeface=""/>
        <a:cs typeface=""/>
      </a:majorFont>
      <a:minorFont>
        <a:latin typeface="Skee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lor Block Orientation_tm03460514_LW_v2" id="{9A2976D9-D6A2-4C72-AA54-D6D4585DC826}" vid="{E979CFFE-0E1D-4C6F-8738-47AC19B5391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  <Background xmlns="71af3243-3dd4-4a8d-8c0d-dd76da1f02a5">false</Background>
  </documentManagement>
</p:properties>
</file>

<file path=customXml/itemProps1.xml><?xml version="1.0" encoding="utf-8"?>
<ds:datastoreItem xmlns:ds="http://schemas.openxmlformats.org/officeDocument/2006/customXml" ds:itemID="{E618C13B-9D83-4AF4-B64D-33362D5133F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62A4A0A-D2F4-4D0A-B8F3-A5181C4DEBA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CA4F7154-AFAC-4BE7-8A74-7F4B6FC2743C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Employee orientation presentation</Template>
  <TotalTime>124</TotalTime>
  <Words>1161</Words>
  <Application>Microsoft Office PowerPoint</Application>
  <PresentationFormat>Widescreen</PresentationFormat>
  <Paragraphs>221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Arial</vt:lpstr>
      <vt:lpstr>Calibri</vt:lpstr>
      <vt:lpstr>Consolas</vt:lpstr>
      <vt:lpstr>Georgia</vt:lpstr>
      <vt:lpstr>Skeena</vt:lpstr>
      <vt:lpstr>Times New Roman</vt:lpstr>
      <vt:lpstr>Custom</vt:lpstr>
      <vt:lpstr>Poređenje row i column modela organizacije podataka u PostgreSQL i DuckDB bazama podataka</vt:lpstr>
      <vt:lpstr>Pregled prezentacije</vt:lpstr>
      <vt:lpstr>Cilj rada</vt:lpstr>
      <vt:lpstr>OLTP i OLAP — dva tipa opterećenja</vt:lpstr>
      <vt:lpstr>Row-oriented model</vt:lpstr>
      <vt:lpstr>Column-oriented model</vt:lpstr>
      <vt:lpstr>PostgreSQL </vt:lpstr>
      <vt:lpstr>DuckDB</vt:lpstr>
      <vt:lpstr>Testiranje</vt:lpstr>
      <vt:lpstr>Rezultati testiranja</vt:lpstr>
      <vt:lpstr>PowerPoint Presentation</vt:lpstr>
      <vt:lpstr>Zašto su rezultati takvi? </vt:lpstr>
      <vt:lpstr>Ovi sistemi nisu konkurenti</vt:lpstr>
      <vt:lpstr>Zaključak</vt:lpstr>
      <vt:lpstr>Hvala na pažnji!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Jana Arsic</dc:creator>
  <cp:lastModifiedBy>Jana Arsic</cp:lastModifiedBy>
  <cp:revision>1</cp:revision>
  <dcterms:created xsi:type="dcterms:W3CDTF">2026-05-11T18:17:19Z</dcterms:created>
  <dcterms:modified xsi:type="dcterms:W3CDTF">2026-05-11T20:22:00Z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